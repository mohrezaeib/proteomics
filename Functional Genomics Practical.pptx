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0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1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12.xml" ContentType="application/vnd.openxmlformats-officedocument.theme+xml"/>
  <Override PartName="/ppt/comments/modernComment_116_3DC4D19D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  <p:sldMasterId id="2147483739" r:id="rId8"/>
    <p:sldMasterId id="2147483752" r:id="rId9"/>
    <p:sldMasterId id="2147483765" r:id="rId10"/>
    <p:sldMasterId id="2147483778" r:id="rId11"/>
    <p:sldMasterId id="2147483791" r:id="rId12"/>
  </p:sldMasterIdLst>
  <p:sldIdLst>
    <p:sldId id="256" r:id="rId13"/>
    <p:sldId id="277" r:id="rId14"/>
    <p:sldId id="280" r:id="rId15"/>
    <p:sldId id="278" r:id="rId16"/>
    <p:sldId id="279" r:id="rId17"/>
    <p:sldId id="281" r:id="rId18"/>
    <p:sldId id="282" r:id="rId19"/>
    <p:sldId id="283" r:id="rId20"/>
    <p:sldId id="284" r:id="rId21"/>
    <p:sldId id="285" r:id="rId22"/>
    <p:sldId id="286" r:id="rId23"/>
    <p:sldId id="295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6" r:id="rId33"/>
    <p:sldId id="298" r:id="rId34"/>
    <p:sldId id="299" r:id="rId35"/>
    <p:sldId id="300" r:id="rId36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3CB0238-7521-07E8-EBE0-70F5BB6CB0D6}" name="Mohamad Rezaei" initials="MR" userId="1d270735fb070834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E8BF85-6FBC-4CE7-B18A-9DB41C99B132}" v="851" dt="2025-11-18T11:15:28.256"/>
    <p1510:client id="{54C894D7-F822-4B30-8E13-6064B6339FC3}" v="115" dt="2025-11-18T11:46:18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theme" Target="theme/theme1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microsoft.com/office/2018/10/relationships/authors" Target="author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viewProps" Target="viewProps.xml"/></Relationships>
</file>

<file path=ppt/comments/modernComment_116_3DC4D19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E4BBA0F-A501-48A5-8CC4-555DE5843B54}" authorId="{63CB0238-7521-07E8-EBE0-70F5BB6CB0D6}" created="2025-11-18T10:23:12.807">
    <pc:sldMkLst xmlns:pc="http://schemas.microsoft.com/office/powerpoint/2013/main/command">
      <pc:docMk/>
      <pc:sldMk cId="1036308893" sldId="278"/>
    </pc:sldMkLst>
    <p188:txBody>
      <a:bodyPr/>
      <a:lstStyle/>
      <a:p>
        <a:r>
          <a:rPr lang="en-US"/>
          <a:t>Reference discussion:
Reviews show that missing peptides in MS-based proteomics is a persistent issue. https://pubs.acs.org/doi/10.1021/acs.jproteome.5b00482?utm_source=chatgpt.com
One guide notes that “identification and quantification of peptides does not occur simultaneously … the missing values may occur when the corresponding peptide is actually missing, or if it is present, but unidentified.” https://egor-pro.medium.com/missing-with-out-a-trace-da186405e02b?utm_source=chatgpt.com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6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5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0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1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8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3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 type="subTitle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PlaceHolder 1"/>
          <p:cNvSpPr>
            <a:spLocks noGrp="1"/>
          </p:cNvSpPr>
          <p:nvPr>
            <p:ph type="subTitle"/>
          </p:nvPr>
        </p:nvSpPr>
        <p:spPr>
          <a:xfrm>
            <a:off x="431640" y="111240"/>
            <a:ext cx="8375400" cy="3282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3" name="PlaceHolder 4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5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9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PlaceHolder 3"/>
          <p:cNvSpPr>
            <a:spLocks noGrp="1"/>
          </p:cNvSpPr>
          <p:nvPr>
            <p:ph/>
          </p:nvPr>
        </p:nvSpPr>
        <p:spPr>
          <a:xfrm>
            <a:off x="431640" y="3610440"/>
            <a:ext cx="837540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/>
          </p:nvPr>
        </p:nvSpPr>
        <p:spPr>
          <a:xfrm>
            <a:off x="4723560" y="126000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PlaceHolder 4"/>
          <p:cNvSpPr>
            <a:spLocks noGrp="1"/>
          </p:cNvSpPr>
          <p:nvPr>
            <p:ph/>
          </p:nvPr>
        </p:nvSpPr>
        <p:spPr>
          <a:xfrm>
            <a:off x="43164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5" name="PlaceHolder 5"/>
          <p:cNvSpPr>
            <a:spLocks noGrp="1"/>
          </p:cNvSpPr>
          <p:nvPr>
            <p:ph/>
          </p:nvPr>
        </p:nvSpPr>
        <p:spPr>
          <a:xfrm>
            <a:off x="4723560" y="3610440"/>
            <a:ext cx="408708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PlaceHolder 2"/>
          <p:cNvSpPr>
            <a:spLocks noGrp="1"/>
          </p:cNvSpPr>
          <p:nvPr>
            <p:ph/>
          </p:nvPr>
        </p:nvSpPr>
        <p:spPr>
          <a:xfrm>
            <a:off x="43164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/>
          </p:nvPr>
        </p:nvSpPr>
        <p:spPr>
          <a:xfrm>
            <a:off x="326376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PlaceHolder 4"/>
          <p:cNvSpPr>
            <a:spLocks noGrp="1"/>
          </p:cNvSpPr>
          <p:nvPr>
            <p:ph/>
          </p:nvPr>
        </p:nvSpPr>
        <p:spPr>
          <a:xfrm>
            <a:off x="6095520" y="126000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PlaceHolder 5"/>
          <p:cNvSpPr>
            <a:spLocks noGrp="1"/>
          </p:cNvSpPr>
          <p:nvPr>
            <p:ph/>
          </p:nvPr>
        </p:nvSpPr>
        <p:spPr>
          <a:xfrm>
            <a:off x="43164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1" name="PlaceHolder 6"/>
          <p:cNvSpPr>
            <a:spLocks noGrp="1"/>
          </p:cNvSpPr>
          <p:nvPr>
            <p:ph/>
          </p:nvPr>
        </p:nvSpPr>
        <p:spPr>
          <a:xfrm>
            <a:off x="326376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PlaceHolder 7"/>
          <p:cNvSpPr>
            <a:spLocks noGrp="1"/>
          </p:cNvSpPr>
          <p:nvPr>
            <p:ph/>
          </p:nvPr>
        </p:nvSpPr>
        <p:spPr>
          <a:xfrm>
            <a:off x="6095520" y="3610440"/>
            <a:ext cx="2696760" cy="2146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de-DE" sz="16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Relationship Id="rId14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image" Target="../media/image1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Relationship Id="rId14" Type="http://schemas.openxmlformats.org/officeDocument/2006/relationships/image" Target="../media/image1.png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Relationship Id="rId14" Type="http://schemas.openxmlformats.org/officeDocument/2006/relationships/image" Target="../media/image1.png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Relationship Id="rId14" Type="http://schemas.openxmlformats.org/officeDocument/2006/relationships/image" Target="../media/image1.png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5" Type="http://schemas.openxmlformats.org/officeDocument/2006/relationships/image" Target="../media/image4.jpeg"/><Relationship Id="rId10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Relationship Id="rId14" Type="http://schemas.openxmlformats.org/officeDocument/2006/relationships/image" Target="../media/image1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slideLayout" Target="../slideLayouts/slideLayout132.xml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Relationship Id="rId14" Type="http://schemas.openxmlformats.org/officeDocument/2006/relationships/image" Target="../media/image1.png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feld 7" hidden="1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28792990-DC62-46BE-B1CC-EB97009A7913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11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3" name="Rectangle 22"/>
          <p:cNvSpPr/>
          <p:nvPr/>
        </p:nvSpPr>
        <p:spPr>
          <a:xfrm>
            <a:off x="297000" y="1449360"/>
            <a:ext cx="8550000" cy="2653920"/>
          </a:xfrm>
          <a:prstGeom prst="rect">
            <a:avLst/>
          </a:prstGeom>
          <a:solidFill>
            <a:srgbClr val="EAEAEA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Platzhalter für Bild, Bild auf Titelfolie hinter das Logo einsetzen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" name="Rectangle 17"/>
          <p:cNvSpPr/>
          <p:nvPr/>
        </p:nvSpPr>
        <p:spPr>
          <a:xfrm>
            <a:off x="287280" y="4103640"/>
            <a:ext cx="8583120" cy="2192040"/>
          </a:xfrm>
          <a:prstGeom prst="rect">
            <a:avLst/>
          </a:prstGeom>
          <a:solidFill>
            <a:srgbClr val="FFF0B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   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5" name="Picture 16" descr="TU_Braunschweig_02"/>
          <p:cNvPicPr/>
          <p:nvPr/>
        </p:nvPicPr>
        <p:blipFill>
          <a:blip r:embed="rId15"/>
          <a:stretch/>
        </p:blipFill>
        <p:spPr>
          <a:xfrm>
            <a:off x="287280" y="1438200"/>
            <a:ext cx="8580240" cy="2665080"/>
          </a:xfrm>
          <a:prstGeom prst="rect">
            <a:avLst/>
          </a:prstGeom>
          <a:ln w="0">
            <a:noFill/>
          </a:ln>
        </p:spPr>
      </p:pic>
      <p:pic>
        <p:nvPicPr>
          <p:cNvPr id="6" name="Picture 13" descr="TUBS_CO_150dpi"/>
          <p:cNvPicPr/>
          <p:nvPr/>
        </p:nvPicPr>
        <p:blipFill>
          <a:blip r:embed="rId16"/>
          <a:stretch/>
        </p:blipFill>
        <p:spPr>
          <a:xfrm>
            <a:off x="0" y="741240"/>
            <a:ext cx="2517480" cy="939600"/>
          </a:xfrm>
          <a:prstGeom prst="rect">
            <a:avLst/>
          </a:prstGeom>
          <a:ln w="0">
            <a:noFill/>
          </a:ln>
        </p:spPr>
      </p:pic>
      <p:sp>
        <p:nvSpPr>
          <p:cNvPr id="7" name="Rectangle 18"/>
          <p:cNvSpPr/>
          <p:nvPr/>
        </p:nvSpPr>
        <p:spPr>
          <a:xfrm>
            <a:off x="287280" y="6297480"/>
            <a:ext cx="8583120" cy="286920"/>
          </a:xfrm>
          <a:prstGeom prst="rect">
            <a:avLst/>
          </a:prstGeom>
          <a:solidFill>
            <a:srgbClr val="BE1E3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831960" y="4356000"/>
            <a:ext cx="7772040" cy="87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Titel der Präsentation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77A8070C-B0FE-4881-BADC-1DEE882AC074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47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8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Titelmasterformat 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Textmasterformat bearbeiten</a:t>
            </a:r>
          </a:p>
          <a:p>
            <a:pPr marL="190440" lvl="1" indent="-189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Zweite Ebene</a:t>
            </a:r>
          </a:p>
          <a:p>
            <a:pPr marL="361800" lvl="2" indent="-16992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Dritte Ebene</a:t>
            </a:r>
          </a:p>
          <a:p>
            <a:pPr marL="542880" lvl="3" indent="-1792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Vierte Ebene</a:t>
            </a:r>
          </a:p>
          <a:p>
            <a:pPr marL="743040" lvl="4" indent="-1983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A33708FF-089E-4FFF-B59E-15493CF53D7C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88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89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Titelmasterformat 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31640" y="1260000"/>
            <a:ext cx="359964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Textmasterformat bearbeiten</a:t>
            </a:r>
          </a:p>
          <a:p>
            <a:pPr marL="190440" lvl="1" indent="-189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Zweite Ebene</a:t>
            </a:r>
          </a:p>
          <a:p>
            <a:pPr marL="361800" lvl="2" indent="-16992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Dritte Ebene</a:t>
            </a:r>
          </a:p>
          <a:p>
            <a:pPr marL="542880" lvl="3" indent="-1792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Vierte Ebene</a:t>
            </a:r>
          </a:p>
          <a:p>
            <a:pPr marL="743040" lvl="4" indent="-1983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Fünfte Ebene</a:t>
            </a: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4860000" y="1260000"/>
            <a:ext cx="359964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Textmasterformat bearbeiten</a:t>
            </a:r>
          </a:p>
          <a:p>
            <a:pPr marL="190440" lvl="1" indent="-189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Zweite Ebene</a:t>
            </a:r>
          </a:p>
          <a:p>
            <a:pPr marL="361800" lvl="2" indent="-16992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Dritte Ebene</a:t>
            </a:r>
          </a:p>
          <a:p>
            <a:pPr marL="542880" lvl="3" indent="-1792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Vierte Ebene</a:t>
            </a:r>
          </a:p>
          <a:p>
            <a:pPr marL="743040" lvl="4" indent="-1983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59BAEE05-8336-474C-932E-BBD2AFEFA188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130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31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Titelmasterformat 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431640" y="1042920"/>
            <a:ext cx="8375400" cy="477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Diagramm durch Klicken auf Symbol hinzufügen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F92A5579-7520-4E11-B966-47D3BC997B09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171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172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Titelmasterformat 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76E27F30-6958-442B-807F-CFDAA140E2D4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212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13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214" name="Rectangle 18"/>
          <p:cNvSpPr/>
          <p:nvPr/>
        </p:nvSpPr>
        <p:spPr>
          <a:xfrm>
            <a:off x="0" y="0"/>
            <a:ext cx="9143640" cy="86328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Titelmasterformat 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body"/>
          </p:nvPr>
        </p:nvSpPr>
        <p:spPr>
          <a:xfrm>
            <a:off x="431640" y="1260000"/>
            <a:ext cx="837540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Textmasterformat bearbeiten</a:t>
            </a:r>
          </a:p>
          <a:p>
            <a:pPr marL="190440" lvl="1" indent="-189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Zweite Ebene</a:t>
            </a:r>
          </a:p>
          <a:p>
            <a:pPr marL="361800" lvl="2" indent="-16992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Dritte Ebene</a:t>
            </a:r>
          </a:p>
          <a:p>
            <a:pPr marL="542880" lvl="3" indent="-1792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Vierte Ebene</a:t>
            </a:r>
          </a:p>
          <a:p>
            <a:pPr marL="743040" lvl="4" indent="-1983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FB3F8708-646A-4A18-9B96-046CE6DC0946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254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55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256" name="Rectangle 18"/>
          <p:cNvSpPr/>
          <p:nvPr/>
        </p:nvSpPr>
        <p:spPr>
          <a:xfrm>
            <a:off x="0" y="0"/>
            <a:ext cx="9143640" cy="86328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Titelmasterformat 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431640" y="1260000"/>
            <a:ext cx="359964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Textmasterformat bearbeiten</a:t>
            </a:r>
          </a:p>
          <a:p>
            <a:pPr marL="190440" lvl="1" indent="-189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Zweite Ebene</a:t>
            </a:r>
          </a:p>
          <a:p>
            <a:pPr marL="361800" lvl="2" indent="-16992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Dritte Ebene</a:t>
            </a:r>
          </a:p>
          <a:p>
            <a:pPr marL="542880" lvl="3" indent="-1792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Vierte Ebene</a:t>
            </a:r>
          </a:p>
          <a:p>
            <a:pPr marL="743040" lvl="4" indent="-1983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Fünfte Ebene</a:t>
            </a:r>
          </a:p>
        </p:txBody>
      </p:sp>
      <p:sp>
        <p:nvSpPr>
          <p:cNvPr id="259" name="PlaceHolder 3"/>
          <p:cNvSpPr>
            <a:spLocks noGrp="1"/>
          </p:cNvSpPr>
          <p:nvPr>
            <p:ph type="body"/>
          </p:nvPr>
        </p:nvSpPr>
        <p:spPr>
          <a:xfrm>
            <a:off x="4860000" y="1260000"/>
            <a:ext cx="3599640" cy="449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Textmasterformat bearbeiten</a:t>
            </a:r>
          </a:p>
          <a:p>
            <a:pPr marL="190440" lvl="1" indent="-189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Zweite Ebene</a:t>
            </a:r>
          </a:p>
          <a:p>
            <a:pPr marL="361800" lvl="2" indent="-16992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Dritte Ebene</a:t>
            </a:r>
          </a:p>
          <a:p>
            <a:pPr marL="542880" lvl="3" indent="-1792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Vierte Ebene</a:t>
            </a:r>
          </a:p>
          <a:p>
            <a:pPr marL="743040" lvl="4" indent="-1983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0BDD44E7-9177-4716-871F-1E16C62DCAB3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297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98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299" name="Rectangle 18"/>
          <p:cNvSpPr/>
          <p:nvPr/>
        </p:nvSpPr>
        <p:spPr>
          <a:xfrm>
            <a:off x="0" y="0"/>
            <a:ext cx="9143640" cy="86328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Titelmasterformat 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431640" y="1042920"/>
            <a:ext cx="8375400" cy="47718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Diagramm durch Klicken auf Symbol hinzufügen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5ADF2141-2F4B-4650-94D1-C3B05834B897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339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40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341" name="Rectangle 6"/>
          <p:cNvSpPr/>
          <p:nvPr/>
        </p:nvSpPr>
        <p:spPr>
          <a:xfrm>
            <a:off x="0" y="0"/>
            <a:ext cx="9143640" cy="1133280"/>
          </a:xfrm>
          <a:prstGeom prst="rect">
            <a:avLst/>
          </a:prstGeom>
          <a:solidFill>
            <a:schemeClr val="hlink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42" name="PlaceHolder 1"/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FFFFFF"/>
                </a:solidFill>
                <a:latin typeface="Arial"/>
              </a:rPr>
              <a:t>Zwischentitel 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431640" y="1339920"/>
            <a:ext cx="8370360" cy="4622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marL="343080" indent="-343080">
              <a:lnSpc>
                <a:spcPct val="100000"/>
              </a:lnSpc>
              <a:spcBef>
                <a:spcPts val="320"/>
              </a:spcBef>
              <a:buNone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Textmasterformat bearbeiten</a:t>
            </a:r>
          </a:p>
          <a:p>
            <a:pPr marL="190440" lvl="1" indent="-1890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Zweite Ebene</a:t>
            </a:r>
          </a:p>
          <a:p>
            <a:pPr marL="361800" lvl="2" indent="-16992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Dritte Ebene</a:t>
            </a:r>
          </a:p>
          <a:p>
            <a:pPr marL="542880" lvl="3" indent="-17928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Vierte Ebene</a:t>
            </a:r>
          </a:p>
          <a:p>
            <a:pPr marL="743040" lvl="4" indent="-19836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Wingdings" charset="2"/>
              <a:buChar char=""/>
              <a:tabLst>
                <a:tab pos="0" algn="l"/>
              </a:tabLst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Fünfte Ebene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A2046578-97D3-4D19-8081-DC7A21A8647C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381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82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383" name="Rectangle 17"/>
          <p:cNvSpPr/>
          <p:nvPr/>
        </p:nvSpPr>
        <p:spPr>
          <a:xfrm>
            <a:off x="252000" y="288000"/>
            <a:ext cx="8639640" cy="581364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   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384" name="PlaceHolder 1"/>
          <p:cNvSpPr>
            <a:spLocks noGrp="1"/>
          </p:cNvSpPr>
          <p:nvPr>
            <p:ph type="title"/>
          </p:nvPr>
        </p:nvSpPr>
        <p:spPr>
          <a:xfrm>
            <a:off x="831960" y="3864600"/>
            <a:ext cx="7772040" cy="87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Zwischentitelformat </a:t>
            </a:r>
            <a:br>
              <a:rPr sz="2200"/>
            </a:b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5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386" name="Rechteck 3"/>
          <p:cNvSpPr/>
          <p:nvPr/>
        </p:nvSpPr>
        <p:spPr>
          <a:xfrm>
            <a:off x="8892000" y="0"/>
            <a:ext cx="28764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</p:sp>
      <p:pic>
        <p:nvPicPr>
          <p:cNvPr id="387" name="Picture 16"/>
          <p:cNvPicPr/>
          <p:nvPr/>
        </p:nvPicPr>
        <p:blipFill>
          <a:blip r:embed="rId15"/>
          <a:srcRect b="648"/>
          <a:stretch/>
        </p:blipFill>
        <p:spPr>
          <a:xfrm>
            <a:off x="252000" y="288000"/>
            <a:ext cx="8639640" cy="3023640"/>
          </a:xfrm>
          <a:prstGeom prst="rect">
            <a:avLst/>
          </a:prstGeom>
          <a:ln w="0">
            <a:noFill/>
          </a:ln>
        </p:spPr>
      </p:pic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de-DE" sz="16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de-DE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ED2939ED-147A-43E7-A8A4-BC4C5307C91D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426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27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428" name="Rectangle 17"/>
          <p:cNvSpPr/>
          <p:nvPr/>
        </p:nvSpPr>
        <p:spPr>
          <a:xfrm>
            <a:off x="252000" y="288000"/>
            <a:ext cx="8639640" cy="581364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   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29" name="PlaceHolder 1"/>
          <p:cNvSpPr>
            <a:spLocks noGrp="1"/>
          </p:cNvSpPr>
          <p:nvPr>
            <p:ph type="title"/>
          </p:nvPr>
        </p:nvSpPr>
        <p:spPr>
          <a:xfrm>
            <a:off x="831960" y="3864600"/>
            <a:ext cx="7772040" cy="87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Zwischentitelformat </a:t>
            </a:r>
            <a:br>
              <a:rPr sz="2200"/>
            </a:br>
            <a:r>
              <a:rPr lang="de-DE" sz="2200" b="1" strike="noStrike" spc="-1">
                <a:solidFill>
                  <a:srgbClr val="000000"/>
                </a:solidFill>
                <a:latin typeface="Arial"/>
              </a:rPr>
              <a:t>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0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431" name="PlaceHolder 2"/>
          <p:cNvSpPr>
            <a:spLocks noGrp="1"/>
          </p:cNvSpPr>
          <p:nvPr>
            <p:ph type="body"/>
          </p:nvPr>
        </p:nvSpPr>
        <p:spPr>
          <a:xfrm>
            <a:off x="252000" y="288000"/>
            <a:ext cx="8639640" cy="30236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Bild durch Klicken auf Symbol hinzufügen</a:t>
            </a:r>
          </a:p>
        </p:txBody>
      </p:sp>
      <p:sp>
        <p:nvSpPr>
          <p:cNvPr id="432" name="Rechteck 3"/>
          <p:cNvSpPr/>
          <p:nvPr/>
        </p:nvSpPr>
        <p:spPr>
          <a:xfrm>
            <a:off x="8892000" y="0"/>
            <a:ext cx="28764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Textfeld 7"/>
          <p:cNvSpPr/>
          <p:nvPr/>
        </p:nvSpPr>
        <p:spPr>
          <a:xfrm>
            <a:off x="1696320" y="6141600"/>
            <a:ext cx="4109760" cy="243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800" b="0" strike="noStrike" spc="-1">
                <a:solidFill>
                  <a:srgbClr val="000000"/>
                </a:solidFill>
                <a:latin typeface="Arial"/>
              </a:rPr>
              <a:t>Datum | Referent/in | Kurztitel der Präsentation (bitte im Master einfügen) | Seite </a:t>
            </a:r>
            <a:fld id="{E71CB81E-D068-45DC-A5B6-5017E13731A4}" type="slidenum">
              <a:rPr lang="de-DE" sz="800" b="0" strike="noStrike" spc="-1">
                <a:solidFill>
                  <a:srgbClr val="000000"/>
                </a:solidFill>
                <a:latin typeface="Arial"/>
              </a:rPr>
              <a:t>‹#›</a:t>
            </a:fld>
            <a:endParaRPr lang="en-US" sz="8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800" b="0" strike="noStrike" spc="-1">
              <a:latin typeface="Arial"/>
            </a:endParaRPr>
          </a:p>
        </p:txBody>
      </p:sp>
      <p:sp>
        <p:nvSpPr>
          <p:cNvPr id="470" name="Line 14"/>
          <p:cNvSpPr/>
          <p:nvPr/>
        </p:nvSpPr>
        <p:spPr>
          <a:xfrm>
            <a:off x="0" y="6091200"/>
            <a:ext cx="9144000" cy="360"/>
          </a:xfrm>
          <a:prstGeom prst="line">
            <a:avLst/>
          </a:prstGeom>
          <a:ln w="9525">
            <a:solidFill>
              <a:srgbClr val="BE1E3C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471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472" name="Rectangle 17"/>
          <p:cNvSpPr/>
          <p:nvPr/>
        </p:nvSpPr>
        <p:spPr>
          <a:xfrm>
            <a:off x="252000" y="288000"/>
            <a:ext cx="8639640" cy="5813640"/>
          </a:xfrm>
          <a:prstGeom prst="rect">
            <a:avLst/>
          </a:prstGeom>
          <a:solidFill>
            <a:srgbClr val="FA6E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   </a:t>
            </a:r>
            <a:endParaRPr lang="en-US" sz="1800" b="0" strike="noStrike" spc="-1">
              <a:latin typeface="Arial"/>
            </a:endParaRPr>
          </a:p>
        </p:txBody>
      </p:sp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831960" y="3864600"/>
            <a:ext cx="7772040" cy="87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2200" b="1" strike="noStrike" spc="-1">
                <a:solidFill>
                  <a:srgbClr val="FFFFFF"/>
                </a:solidFill>
                <a:latin typeface="Arial"/>
              </a:rPr>
              <a:t>Zwischentitelformat </a:t>
            </a:r>
            <a:br>
              <a:rPr sz="2200"/>
            </a:br>
            <a:r>
              <a:rPr lang="de-DE" sz="2200" b="1" strike="noStrike" spc="-1">
                <a:solidFill>
                  <a:srgbClr val="FFFFFF"/>
                </a:solidFill>
                <a:latin typeface="Arial"/>
              </a:rPr>
              <a:t>durch Klicken bearbeiten</a:t>
            </a:r>
            <a:endParaRPr lang="de-DE" sz="22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4" name="Picture 20" descr="TUBS_CO_70vH_150dpi"/>
          <p:cNvPicPr/>
          <p:nvPr/>
        </p:nvPicPr>
        <p:blipFill>
          <a:blip r:embed="rId14"/>
          <a:stretch/>
        </p:blipFill>
        <p:spPr>
          <a:xfrm>
            <a:off x="0" y="5915160"/>
            <a:ext cx="1761840" cy="651960"/>
          </a:xfrm>
          <a:prstGeom prst="rect">
            <a:avLst/>
          </a:prstGeom>
          <a:ln w="0">
            <a:noFill/>
          </a:ln>
        </p:spPr>
      </p:pic>
      <p:sp>
        <p:nvSpPr>
          <p:cNvPr id="475" name="Rechteck 3"/>
          <p:cNvSpPr/>
          <p:nvPr/>
        </p:nvSpPr>
        <p:spPr>
          <a:xfrm>
            <a:off x="8892000" y="0"/>
            <a:ext cx="28764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/>
        </p:style>
      </p:sp>
      <p:sp>
        <p:nvSpPr>
          <p:cNvPr id="476" name="PlaceHolder 2"/>
          <p:cNvSpPr>
            <a:spLocks noGrp="1"/>
          </p:cNvSpPr>
          <p:nvPr>
            <p:ph type="body"/>
          </p:nvPr>
        </p:nvSpPr>
        <p:spPr>
          <a:xfrm>
            <a:off x="252000" y="288000"/>
            <a:ext cx="8639640" cy="3023640"/>
          </a:xfrm>
          <a:prstGeom prst="rect">
            <a:avLst/>
          </a:prstGeom>
          <a:noFill/>
          <a:ln w="12600">
            <a:noFill/>
          </a:ln>
        </p:spPr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de-DE" sz="1800" b="0" strike="noStrike" spc="-1">
                <a:solidFill>
                  <a:srgbClr val="000000"/>
                </a:solidFill>
                <a:latin typeface="Arial"/>
              </a:rPr>
              <a:t>Bild durch Klicken auf Symbol hinzufügen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74/jbc.R110.199703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doi.org/10.1074/jbc.R110.199703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116_3DC4D19D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26/science.ade2574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PlaceHolder 1"/>
          <p:cNvSpPr>
            <a:spLocks noGrp="1"/>
          </p:cNvSpPr>
          <p:nvPr>
            <p:ph type="subTitle"/>
          </p:nvPr>
        </p:nvSpPr>
        <p:spPr>
          <a:xfrm>
            <a:off x="830160" y="5499000"/>
            <a:ext cx="7746480" cy="33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t">
            <a:noAutofit/>
          </a:bodyPr>
          <a:lstStyle/>
          <a:p>
            <a:pPr algn="ctr"/>
            <a:r>
              <a:rPr lang="en-US" sz="1200" spc="-1" dirty="0">
                <a:latin typeface="Arial"/>
              </a:rPr>
              <a:t>Mohammad Rezaei| 18 November 2025</a:t>
            </a:r>
            <a:endParaRPr lang="en-US" sz="1200" b="0" strike="noStrike" spc="-1" dirty="0">
              <a:latin typeface="Arial"/>
            </a:endParaRPr>
          </a:p>
        </p:txBody>
      </p:sp>
      <p:sp>
        <p:nvSpPr>
          <p:cNvPr id="514" name="PlaceHolder 2"/>
          <p:cNvSpPr>
            <a:spLocks noGrp="1"/>
          </p:cNvSpPr>
          <p:nvPr>
            <p:ph type="title"/>
          </p:nvPr>
        </p:nvSpPr>
        <p:spPr>
          <a:xfrm>
            <a:off x="831960" y="4356000"/>
            <a:ext cx="7772040" cy="87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r>
              <a:rPr lang="de-DE" sz="2200" spc="-1" dirty="0" err="1">
                <a:solidFill>
                  <a:srgbClr val="000000"/>
                </a:solidFill>
                <a:latin typeface="Arial"/>
              </a:rPr>
              <a:t>Functional</a:t>
            </a:r>
            <a:r>
              <a:rPr lang="de-DE" sz="2200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de-DE" sz="2200" spc="-1" dirty="0" err="1">
                <a:solidFill>
                  <a:srgbClr val="000000"/>
                </a:solidFill>
                <a:latin typeface="Arial"/>
              </a:rPr>
              <a:t>Genomics</a:t>
            </a:r>
            <a:r>
              <a:rPr lang="de-DE" sz="2200" spc="-1" dirty="0">
                <a:solidFill>
                  <a:srgbClr val="000000"/>
                </a:solidFill>
                <a:latin typeface="Arial"/>
              </a:rPr>
              <a:t> </a:t>
            </a:r>
            <a:r>
              <a:rPr lang="de-DE" sz="2200" spc="-1" dirty="0" err="1">
                <a:solidFill>
                  <a:srgbClr val="000000"/>
                </a:solidFill>
                <a:latin typeface="Arial"/>
              </a:rPr>
              <a:t>Practical</a:t>
            </a:r>
            <a:endParaRPr lang="de-DE" sz="2200" b="0" strike="noStrike" spc="-1" dirty="0" err="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/>
          <p:cNvSpPr>
            <a:spLocks noGrp="1"/>
          </p:cNvSpPr>
          <p:nvPr>
            <p:ph type="title" idx="4294967295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cs typeface="Arial"/>
              </a:rPr>
              <a:t>Proteomics</a:t>
            </a:r>
            <a:r>
              <a:rPr lang="de-DE" sz="2200" spc="-1" dirty="0">
                <a:cs typeface="Arial"/>
              </a:rPr>
              <a:t> Work Flow</a:t>
            </a:r>
          </a:p>
        </p:txBody>
      </p:sp>
      <p:pic>
        <p:nvPicPr>
          <p:cNvPr id="2" name="Content Placeholder 1" descr="A diagram of different types of dna&#10;&#10;AI-generated content may be incorrect.">
            <a:extLst>
              <a:ext uri="{FF2B5EF4-FFF2-40B4-BE49-F238E27FC236}">
                <a16:creationId xmlns:a16="http://schemas.microsoft.com/office/drawing/2014/main" id="{E9FE8559-B537-0BB7-6BD0-0BEAE4B8648C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1565985" y="1755784"/>
            <a:ext cx="5941155" cy="3341227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2533E1-D946-4F7B-E6C2-BDCC17D0E620}"/>
              </a:ext>
            </a:extLst>
          </p:cNvPr>
          <p:cNvSpPr txBox="1"/>
          <p:nvPr/>
        </p:nvSpPr>
        <p:spPr>
          <a:xfrm>
            <a:off x="5839752" y="5792548"/>
            <a:ext cx="166561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ea typeface="+mn-lt"/>
                <a:cs typeface="+mn-lt"/>
              </a:rPr>
              <a:t>DOI: </a:t>
            </a:r>
            <a:r>
              <a:rPr lang="en-US" sz="800" dirty="0">
                <a:ea typeface="+mn-lt"/>
                <a:cs typeface="+mn-lt"/>
                <a:hlinkClick r:id="rId3"/>
              </a:rPr>
              <a:t>10.1074/jbc.R110.199703</a:t>
            </a:r>
            <a:endParaRPr lang="en-US"/>
          </a:p>
          <a:p>
            <a:endParaRPr lang="en-US" sz="800" dirty="0"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374D06-09DF-E7BE-6D73-4B2D942FC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D5CA3895-3228-F713-47F4-376EDE41D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ea typeface="+mj-lt"/>
                <a:cs typeface="+mj-lt"/>
              </a:rPr>
              <a:t>From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theoretical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peptides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to</a:t>
            </a:r>
            <a:r>
              <a:rPr lang="de-DE" sz="2200" spc="-1" dirty="0">
                <a:ea typeface="+mj-lt"/>
                <a:cs typeface="+mj-lt"/>
              </a:rPr>
              <a:t> real sample </a:t>
            </a:r>
            <a:r>
              <a:rPr lang="de-DE" sz="2200" spc="-1" dirty="0" err="1">
                <a:ea typeface="+mj-lt"/>
                <a:cs typeface="+mj-lt"/>
              </a:rPr>
              <a:t>digest</a:t>
            </a:r>
            <a:endParaRPr 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A6BA97-1160-F3EE-9A80-E5A8CB2D33C0}"/>
              </a:ext>
            </a:extLst>
          </p:cNvPr>
          <p:cNvSpPr txBox="1"/>
          <p:nvPr/>
        </p:nvSpPr>
        <p:spPr>
          <a:xfrm>
            <a:off x="5839752" y="5792548"/>
            <a:ext cx="166561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>
                <a:ea typeface="+mn-lt"/>
                <a:cs typeface="+mn-lt"/>
              </a:rPr>
              <a:t>DOI: </a:t>
            </a:r>
            <a:r>
              <a:rPr lang="en-US" sz="800" dirty="0">
                <a:ea typeface="+mn-lt"/>
                <a:cs typeface="+mn-lt"/>
                <a:hlinkClick r:id="rId2"/>
              </a:rPr>
              <a:t>10.1074/jbc.R110.199703</a:t>
            </a:r>
            <a:endParaRPr lang="en-US"/>
          </a:p>
          <a:p>
            <a:endParaRPr lang="en-US" sz="800" dirty="0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60FC24-F508-15C4-58E4-E872173F5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89" y="3094149"/>
            <a:ext cx="3400425" cy="17621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2E6C7E-1314-D2D7-88FF-68B181053BEA}"/>
              </a:ext>
            </a:extLst>
          </p:cNvPr>
          <p:cNvSpPr txBox="1"/>
          <p:nvPr/>
        </p:nvSpPr>
        <p:spPr>
          <a:xfrm>
            <a:off x="957557" y="4936141"/>
            <a:ext cx="194208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" dirty="0">
                <a:ea typeface="+mn-lt"/>
                <a:cs typeface="+mn-lt"/>
              </a:rPr>
              <a:t>https://www.promega.de/en/resources/guides/protein-analysis/protease-digestion-for-mass-spec/</a:t>
            </a:r>
            <a:endParaRPr lang="en-US" sz="600"/>
          </a:p>
          <a:p>
            <a:endParaRPr lang="en-US" sz="600" dirty="0"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516EC5-D4D7-A7DB-F351-4BC7CCA6CB4C}"/>
              </a:ext>
            </a:extLst>
          </p:cNvPr>
          <p:cNvSpPr txBox="1"/>
          <p:nvPr/>
        </p:nvSpPr>
        <p:spPr>
          <a:xfrm>
            <a:off x="519239" y="1250894"/>
            <a:ext cx="8287592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</a:t>
            </a:r>
            <a:r>
              <a:rPr lang="en-US" sz="1800" b="1" i="1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“theoretical digest”</a:t>
            </a:r>
            <a:r>
              <a:rPr lang="en-US" sz="18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 means: for a given protein sequence, apply enzyme rules </a:t>
            </a:r>
            <a:endParaRPr lang="en-US" dirty="0">
              <a:solidFill>
                <a:srgbClr val="000000"/>
              </a:solidFill>
              <a:latin typeface="DejaVu Sans"/>
              <a:ea typeface="Arial"/>
              <a:cs typeface="Arial"/>
            </a:endParaRPr>
          </a:p>
          <a:p>
            <a:r>
              <a:rPr lang="en-US" sz="1800" b="0" i="0" u="none" strike="noStrike" baseline="0" dirty="0">
                <a:solidFill>
                  <a:srgbClr val="000000"/>
                </a:solidFill>
                <a:latin typeface="Arial"/>
                <a:ea typeface="Arial"/>
                <a:cs typeface="Arial"/>
              </a:rPr>
              <a:t>(e.g. trypsin always cuts after K/R) → list of all possible peptides.</a:t>
            </a:r>
            <a:endParaRPr lang="en-US" dirty="0"/>
          </a:p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D4C73A-5E54-F516-7A9A-1BE0476D5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7045" y="2453699"/>
            <a:ext cx="2333625" cy="263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287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95F71-7572-AD73-340A-E77E3B326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DBB59E23-53C9-C9A9-A684-2D7DBCB28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ea typeface="+mj-lt"/>
                <a:cs typeface="+mj-lt"/>
              </a:rPr>
              <a:t>From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theoretical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peptides</a:t>
            </a:r>
            <a:r>
              <a:rPr lang="de-DE" sz="2200" spc="-1" dirty="0">
                <a:ea typeface="+mj-lt"/>
                <a:cs typeface="+mj-lt"/>
              </a:rPr>
              <a:t> to real sample </a:t>
            </a:r>
            <a:r>
              <a:rPr lang="de-DE" sz="2200" spc="-1" dirty="0" err="1">
                <a:ea typeface="+mj-lt"/>
                <a:cs typeface="+mj-lt"/>
              </a:rPr>
              <a:t>digest</a:t>
            </a:r>
            <a:endParaRPr lang="en-US" dirty="0" err="1">
              <a:ea typeface="+mj-lt"/>
              <a:cs typeface="+mj-lt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51F92507-EAA2-AF3E-80AD-876E66E038AC}"/>
              </a:ext>
            </a:extLst>
          </p:cNvPr>
          <p:cNvSpPr txBox="1"/>
          <p:nvPr/>
        </p:nvSpPr>
        <p:spPr>
          <a:xfrm>
            <a:off x="532725" y="1085681"/>
            <a:ext cx="4329238" cy="397031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 reality: protein extraction → denaturation → digestion → cleanup → LC-MS/MS. At each step peptides may be lost or transformed.</a:t>
            </a:r>
            <a:endParaRPr lang="en-US" dirty="0"/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cs typeface="Arial"/>
              </a:rPr>
              <a:t>So we should expect: </a:t>
            </a:r>
          </a:p>
          <a:p>
            <a:pPr marL="285750" indent="-285750">
              <a:buFont typeface="Arial"/>
              <a:buChar char="•"/>
            </a:pPr>
            <a:r>
              <a:rPr lang="en-US" b="1" i="1" dirty="0">
                <a:cs typeface="Arial"/>
              </a:rPr>
              <a:t>Maximum theoretical peptides</a:t>
            </a:r>
            <a:r>
              <a:rPr lang="en-US" b="1" dirty="0">
                <a:cs typeface="Arial"/>
              </a:rPr>
              <a:t> </a:t>
            </a:r>
            <a:r>
              <a:rPr lang="en-US" dirty="0">
                <a:cs typeface="Arial"/>
              </a:rPr>
              <a:t>≥</a:t>
            </a:r>
            <a:r>
              <a:rPr lang="en-US" b="1" dirty="0">
                <a:cs typeface="Arial"/>
              </a:rPr>
              <a:t> </a:t>
            </a:r>
            <a:r>
              <a:rPr lang="en-US" b="1" i="1" dirty="0">
                <a:cs typeface="Arial"/>
              </a:rPr>
              <a:t>actual peptides detected</a:t>
            </a:r>
            <a:r>
              <a:rPr lang="en-US" b="1" dirty="0">
                <a:cs typeface="Arial"/>
              </a:rPr>
              <a:t>.</a:t>
            </a:r>
            <a:endParaRPr lang="en-US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DC4B18-9E96-CC90-AB4C-EAFE7FB5C9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423" y="1779574"/>
            <a:ext cx="2339190" cy="27458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436DD7-5D22-9D77-215B-F0FBB8D56A5F}"/>
              </a:ext>
            </a:extLst>
          </p:cNvPr>
          <p:cNvSpPr txBox="1"/>
          <p:nvPr/>
        </p:nvSpPr>
        <p:spPr>
          <a:xfrm>
            <a:off x="5927415" y="4808017"/>
            <a:ext cx="2333203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dirty="0"/>
              <a:t>DOI: </a:t>
            </a:r>
            <a:r>
              <a:rPr lang="en-US" sz="1000" dirty="0">
                <a:ea typeface="+mn-lt"/>
                <a:cs typeface="+mn-lt"/>
              </a:rPr>
              <a:t>10.1021/acs.analchem.9b03604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363088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11D25-503D-410C-384F-D1B83825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73CEDF09-CBB9-75F5-B5C5-924D88FA1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ea typeface="+mj-lt"/>
                <a:cs typeface="+mj-lt"/>
              </a:rPr>
              <a:t>Why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many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peptides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don’t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show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up</a:t>
            </a:r>
            <a:r>
              <a:rPr lang="de-DE" sz="2200" spc="-1" dirty="0">
                <a:ea typeface="+mj-lt"/>
                <a:cs typeface="+mj-lt"/>
              </a:rPr>
              <a:t>: </a:t>
            </a:r>
            <a:r>
              <a:rPr lang="de-DE" sz="2200" spc="-1" dirty="0" err="1">
                <a:ea typeface="+mj-lt"/>
                <a:cs typeface="+mj-lt"/>
              </a:rPr>
              <a:t>key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limiting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factors</a:t>
            </a:r>
            <a:endParaRPr 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6A13C1E-EF65-E160-F2BD-75110446FFD4}"/>
              </a:ext>
            </a:extLst>
          </p:cNvPr>
          <p:cNvSpPr txBox="1"/>
          <p:nvPr/>
        </p:nvSpPr>
        <p:spPr>
          <a:xfrm>
            <a:off x="5839752" y="5792548"/>
            <a:ext cx="194208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" dirty="0">
                <a:ea typeface="+mn-lt"/>
                <a:cs typeface="+mn-lt"/>
              </a:rPr>
              <a:t>https://egor-pro.medium.com/missing-with-out-a-trace-da186405e02b</a:t>
            </a:r>
            <a:endParaRPr lang="en-US" dirty="0"/>
          </a:p>
          <a:p>
            <a:endParaRPr lang="en-US" sz="600" dirty="0">
              <a:cs typeface="Arial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79E4373E-6F4E-0DC1-740C-0518E78FEC5F}"/>
              </a:ext>
            </a:extLst>
          </p:cNvPr>
          <p:cNvSpPr txBox="1"/>
          <p:nvPr/>
        </p:nvSpPr>
        <p:spPr>
          <a:xfrm>
            <a:off x="532725" y="1085681"/>
            <a:ext cx="6972636" cy="4154984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b="1" dirty="0">
                <a:ea typeface="+mn-lt"/>
                <a:cs typeface="+mn-lt"/>
              </a:rPr>
              <a:t>Digestion inefficiencies:</a:t>
            </a:r>
            <a:r>
              <a:rPr lang="en-US" sz="1200" dirty="0">
                <a:ea typeface="+mn-lt"/>
                <a:cs typeface="+mn-lt"/>
              </a:rPr>
              <a:t> e.g. missed cleavages, blocked/modified sites, protein structure impeding enzyme access → fewer “ideal” peptides.</a:t>
            </a:r>
          </a:p>
          <a:p>
            <a:endParaRPr lang="en-US" sz="1200" dirty="0"/>
          </a:p>
          <a:p>
            <a:r>
              <a:rPr lang="en-US" sz="1200" b="1" dirty="0">
                <a:ea typeface="+mn-lt"/>
                <a:cs typeface="+mn-lt"/>
              </a:rPr>
              <a:t>Peptides with unsuitable properties: </a:t>
            </a:r>
            <a:r>
              <a:rPr lang="en-US" sz="1200" dirty="0">
                <a:ea typeface="+mn-lt"/>
                <a:cs typeface="+mn-lt"/>
              </a:rPr>
              <a:t>too small/too large, extreme hydrophobicity, weak </a:t>
            </a:r>
            <a:r>
              <a:rPr lang="en-US" sz="1200" err="1">
                <a:ea typeface="+mn-lt"/>
                <a:cs typeface="+mn-lt"/>
              </a:rPr>
              <a:t>ionisation</a:t>
            </a:r>
            <a:r>
              <a:rPr lang="en-US" sz="1200" dirty="0">
                <a:ea typeface="+mn-lt"/>
                <a:cs typeface="+mn-lt"/>
              </a:rPr>
              <a:t> → poor LC/MS detection.</a:t>
            </a:r>
            <a:endParaRPr lang="en-US" sz="1200" dirty="0"/>
          </a:p>
          <a:p>
            <a:endParaRPr lang="en-US" sz="1200" dirty="0"/>
          </a:p>
          <a:p>
            <a:r>
              <a:rPr lang="en-US" sz="1200" b="1" dirty="0">
                <a:ea typeface="+mn-lt"/>
                <a:cs typeface="+mn-lt"/>
              </a:rPr>
              <a:t>Sample &amp; LC losses:</a:t>
            </a:r>
            <a:r>
              <a:rPr lang="en-US" sz="1200" dirty="0">
                <a:ea typeface="+mn-lt"/>
                <a:cs typeface="+mn-lt"/>
              </a:rPr>
              <a:t> adsorption to tubes or tips, co-elution suppression, low abundance overshadowed by high abundance peptides.</a:t>
            </a:r>
            <a:endParaRPr lang="en-US" sz="1200" dirty="0"/>
          </a:p>
          <a:p>
            <a:endParaRPr lang="en-US" sz="1200" dirty="0"/>
          </a:p>
          <a:p>
            <a:r>
              <a:rPr lang="en-US" sz="1200" b="1" dirty="0">
                <a:ea typeface="+mn-lt"/>
                <a:cs typeface="+mn-lt"/>
              </a:rPr>
              <a:t>Acquisition &amp; selection issues:</a:t>
            </a:r>
            <a:r>
              <a:rPr lang="en-US" sz="1200" dirty="0">
                <a:ea typeface="+mn-lt"/>
                <a:cs typeface="+mn-lt"/>
              </a:rPr>
              <a:t> in DDA (data dependent acquisition) the instrument selects only top N-ions → many lower-abundance peptides never get fragmented.</a:t>
            </a:r>
            <a:endParaRPr lang="en-US" sz="1200" dirty="0">
              <a:cs typeface="Arial"/>
            </a:endParaRPr>
          </a:p>
          <a:p>
            <a:endParaRPr lang="en-US" sz="1200" dirty="0"/>
          </a:p>
          <a:p>
            <a:r>
              <a:rPr lang="en-US" sz="1200" b="1" dirty="0">
                <a:ea typeface="+mn-lt"/>
                <a:cs typeface="+mn-lt"/>
              </a:rPr>
              <a:t>Data analysis filters:</a:t>
            </a:r>
            <a:r>
              <a:rPr lang="en-US" sz="1200" dirty="0">
                <a:ea typeface="+mn-lt"/>
                <a:cs typeface="+mn-lt"/>
              </a:rPr>
              <a:t> some peptides are present but the MS/MS spectra are of poor quality, or search parameters too strict → they go undetected or unassigned. Systematic errors arise from e.g. modifications, shared peptides, etc.</a:t>
            </a:r>
            <a:endParaRPr lang="en-US" sz="1200" dirty="0"/>
          </a:p>
          <a:p>
            <a:endParaRPr lang="en-US" sz="1200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sz="1200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sz="1200" dirty="0"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US" sz="12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2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205524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5F908-7298-0801-6156-7588E0D33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20F3749D-7B36-D80E-C391-8490B4EBA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ea typeface="+mj-lt"/>
                <a:cs typeface="+mj-lt"/>
              </a:rPr>
              <a:t>Consequences</a:t>
            </a:r>
            <a:r>
              <a:rPr lang="de-DE" sz="2200" spc="-1" dirty="0">
                <a:ea typeface="+mj-lt"/>
                <a:cs typeface="+mj-lt"/>
              </a:rPr>
              <a:t> &amp; </a:t>
            </a:r>
            <a:r>
              <a:rPr lang="de-DE" sz="2200" spc="-1" dirty="0" err="1">
                <a:ea typeface="+mj-lt"/>
                <a:cs typeface="+mj-lt"/>
              </a:rPr>
              <a:t>mitigation</a:t>
            </a:r>
            <a:r>
              <a:rPr lang="de-DE" sz="2200" spc="-1" dirty="0">
                <a:ea typeface="+mj-lt"/>
                <a:cs typeface="+mj-lt"/>
              </a:rPr>
              <a:t> </a:t>
            </a:r>
            <a:r>
              <a:rPr lang="de-DE" sz="2200" spc="-1" dirty="0" err="1">
                <a:ea typeface="+mj-lt"/>
                <a:cs typeface="+mj-lt"/>
              </a:rPr>
              <a:t>strategies</a:t>
            </a:r>
            <a:endParaRPr 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91579-CC99-29DF-DBF9-8F31BADF8BF9}"/>
              </a:ext>
            </a:extLst>
          </p:cNvPr>
          <p:cNvSpPr txBox="1"/>
          <p:nvPr/>
        </p:nvSpPr>
        <p:spPr>
          <a:xfrm>
            <a:off x="5839752" y="5792548"/>
            <a:ext cx="194208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600" dirty="0">
                <a:ea typeface="+mn-lt"/>
                <a:cs typeface="+mn-lt"/>
              </a:rPr>
              <a:t>https://doi.org/10.1038/s41467-023-40129-9</a:t>
            </a:r>
            <a:endParaRPr lang="en-US" dirty="0"/>
          </a:p>
          <a:p>
            <a:endParaRPr lang="en-US" sz="600" dirty="0">
              <a:cs typeface="Arial"/>
            </a:endParaRP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E5B86402-8703-7A59-DB1F-372ACAC79DA2}"/>
              </a:ext>
            </a:extLst>
          </p:cNvPr>
          <p:cNvSpPr txBox="1"/>
          <p:nvPr/>
        </p:nvSpPr>
        <p:spPr>
          <a:xfrm>
            <a:off x="532725" y="1085681"/>
            <a:ext cx="6972636" cy="193899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ea typeface="+mn-lt"/>
              <a:cs typeface="+mn-lt"/>
            </a:endParaRPr>
          </a:p>
          <a:p>
            <a:r>
              <a:rPr lang="en-US" sz="1200" b="1" dirty="0">
                <a:ea typeface="+mn-lt"/>
                <a:cs typeface="+mn-lt"/>
              </a:rPr>
              <a:t>Consequences</a:t>
            </a:r>
            <a:r>
              <a:rPr lang="en-US" sz="1200" dirty="0">
                <a:ea typeface="+mn-lt"/>
                <a:cs typeface="+mn-lt"/>
              </a:rPr>
              <a:t>: lower proteome/peptide coverage than predicted; gaps (“missing values”) in quantitative datasets; bias toward high‐abundance peptides; under-representation of low abundance or difficult peptides (e.g., from membrane proteins, PTMs)</a:t>
            </a:r>
            <a:endParaRPr lang="en-US" dirty="0"/>
          </a:p>
          <a:p>
            <a:endParaRPr lang="en-US" sz="1200" dirty="0">
              <a:cs typeface="Arial"/>
            </a:endParaRPr>
          </a:p>
          <a:p>
            <a:r>
              <a:rPr lang="en-US" sz="1200" b="1" dirty="0">
                <a:ea typeface="+mn-lt"/>
                <a:cs typeface="+mn-lt"/>
              </a:rPr>
              <a:t>Mitigation strategies:</a:t>
            </a:r>
            <a:endParaRPr lang="en-US" sz="1200" b="1" dirty="0"/>
          </a:p>
          <a:p>
            <a:pPr marL="171450" indent="-171450">
              <a:buFont typeface="Arial"/>
              <a:buChar char="•"/>
            </a:pPr>
            <a:r>
              <a:rPr lang="en-US" sz="1200" dirty="0">
                <a:ea typeface="+mn-lt"/>
                <a:cs typeface="+mn-lt"/>
              </a:rPr>
              <a:t>Improve digestion efficiency (optimize </a:t>
            </a:r>
            <a:r>
              <a:rPr lang="en-US" sz="1200" err="1">
                <a:ea typeface="+mn-lt"/>
                <a:cs typeface="+mn-lt"/>
              </a:rPr>
              <a:t>enzyme:substrate</a:t>
            </a:r>
            <a:r>
              <a:rPr lang="en-US" sz="1200" dirty="0">
                <a:ea typeface="+mn-lt"/>
                <a:cs typeface="+mn-lt"/>
              </a:rPr>
              <a:t> ratio, denaturation, time, </a:t>
            </a:r>
            <a:r>
              <a:rPr lang="en-US" sz="1200" err="1">
                <a:ea typeface="+mn-lt"/>
                <a:cs typeface="+mn-lt"/>
              </a:rPr>
              <a:t>etc</a:t>
            </a:r>
            <a:r>
              <a:rPr lang="en-US" sz="1200">
                <a:ea typeface="+mn-lt"/>
                <a:cs typeface="+mn-lt"/>
              </a:rPr>
              <a:t>).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Use alternative proteases or multi-enzyme digestions to cover “hard” regions.</a:t>
            </a:r>
            <a:endParaRPr lang="en-US"/>
          </a:p>
          <a:p>
            <a:pPr marL="171450" indent="-171450">
              <a:buFont typeface="Arial"/>
              <a:buChar char="•"/>
            </a:pPr>
            <a:r>
              <a:rPr lang="en-US" sz="1200">
                <a:ea typeface="+mn-lt"/>
                <a:cs typeface="+mn-lt"/>
              </a:rPr>
              <a:t>Choose acquisition mode carefully: consider DIA (data independent acquisition) to reduce stochastic missing values compared to DDA.</a:t>
            </a:r>
            <a:endParaRPr lang="en-US"/>
          </a:p>
        </p:txBody>
      </p:sp>
      <p:pic>
        <p:nvPicPr>
          <p:cNvPr id="6" name="Picture 5" descr="A screenshot of a web page&#10;&#10;AI-generated content may be incorrect.">
            <a:extLst>
              <a:ext uri="{FF2B5EF4-FFF2-40B4-BE49-F238E27FC236}">
                <a16:creationId xmlns:a16="http://schemas.microsoft.com/office/drawing/2014/main" id="{73179004-EE90-F1C2-6D2B-4C2EA8B84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620" y="4128580"/>
            <a:ext cx="4245537" cy="166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0784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34F32-7AAA-6568-C86C-C53FFC2F4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ED1EB81D-C287-21CB-AB7A-8913532B0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Sample </a:t>
            </a:r>
            <a:r>
              <a:rPr lang="de-DE" sz="2200" spc="-1" dirty="0" err="1">
                <a:cs typeface="Arial"/>
              </a:rPr>
              <a:t>Statistics</a:t>
            </a:r>
          </a:p>
        </p:txBody>
      </p:sp>
      <p:pic>
        <p:nvPicPr>
          <p:cNvPr id="2" name="Picture 1" descr="A graph of blue and black bars&#10;&#10;AI-generated content may be incorrect.">
            <a:extLst>
              <a:ext uri="{FF2B5EF4-FFF2-40B4-BE49-F238E27FC236}">
                <a16:creationId xmlns:a16="http://schemas.microsoft.com/office/drawing/2014/main" id="{8CE78173-DBA9-BE89-5922-C6F9EC0DB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571625"/>
            <a:ext cx="66675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100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691F8-07A3-1FD5-9006-09A0BE5ED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62884E22-30AE-2EC9-BC61-9AEE1D468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Sample </a:t>
            </a:r>
            <a:r>
              <a:rPr lang="de-DE" sz="2200" spc="-1" dirty="0" err="1">
                <a:cs typeface="Arial"/>
              </a:rPr>
              <a:t>Statistics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3E8A6B-5DBA-2C43-A08B-76C38E816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1571625"/>
            <a:ext cx="66675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068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DAEDF-AE91-B789-7621-DD38419FB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A7014771-C74E-CF2A-7C78-42BD0E3E9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Sample </a:t>
            </a:r>
            <a:r>
              <a:rPr lang="de-DE" sz="2200" spc="-1" dirty="0" err="1">
                <a:cs typeface="Arial"/>
              </a:rPr>
              <a:t>Statistics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4478F45-DF10-026E-E725-63E5998BA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700" y="757237"/>
            <a:ext cx="6324600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897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656C5-0D08-4F70-0B9D-C20C7C076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92A629B8-99E0-0693-7DB7-89F818EFE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Sample </a:t>
            </a:r>
            <a:r>
              <a:rPr lang="de-DE" sz="2200" spc="-1" dirty="0" err="1">
                <a:cs typeface="Arial"/>
              </a:rPr>
              <a:t>Statistics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80D90E-1EFB-A4B2-426D-5EC413F6A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062" y="1743075"/>
            <a:ext cx="738187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0758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2CA77-ADF5-C59A-62E7-2B05F6751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C5BAA6B0-6A43-71B4-2BF8-E43EEB4AD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Training  ML Models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2A736D-5F26-1B8E-7886-27454DAEF6D3}"/>
              </a:ext>
            </a:extLst>
          </p:cNvPr>
          <p:cNvSpPr txBox="1"/>
          <p:nvPr/>
        </p:nvSpPr>
        <p:spPr>
          <a:xfrm>
            <a:off x="1328442" y="1577947"/>
            <a:ext cx="7397468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</a:rPr>
              <a:t>LogisticRegression | Accuracy: 0.820 | F1: 0.617
      RandomForest | Accuracy: 0.869 | F1: 0.731
           XGBoost | Accuracy: 0.881 | F1: 0.764
               SVM | Accuracy: 0.859 | F1: 0.710
               MLP | Accuracy: 0.847 | F1: 0.700</a:t>
            </a:r>
          </a:p>
          <a:p>
            <a:r>
              <a:rPr lang="en-US" dirty="0">
                <a:latin typeface="Consolas"/>
              </a:rPr>
              <a:t>  ESM2 Fine tuning | Accuracy: 0.887 | F1: 0.888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5789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5B600-3DC8-3B26-B601-0DFFA7B01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68193EC0-6ABC-E1B0-2FDC-C448A8CEF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Training  ML Models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D3A930-6A62-ECD1-A865-8CCF226D3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362" y="1004888"/>
            <a:ext cx="4867275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711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9DECE-8259-5E99-64C6-4687F5E33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4F9A4E0E-D282-C6A1-ACC5-7CCD0450E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ML </a:t>
            </a:r>
            <a:r>
              <a:rPr lang="de-DE" sz="2200" spc="-1" dirty="0" err="1">
                <a:cs typeface="Arial"/>
              </a:rPr>
              <a:t>Interpretability</a:t>
            </a:r>
            <a:r>
              <a:rPr lang="de-DE" sz="2200" spc="-1" dirty="0">
                <a:cs typeface="Arial"/>
              </a:rPr>
              <a:t> 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753E51-02BD-0E0F-6CBA-147A0966F9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557338"/>
            <a:ext cx="70485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1090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BFF7E-93D2-20EC-A1C8-C43DCB92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83C4FED2-6524-2830-91AC-FCA7FABAA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>
                <a:cs typeface="Arial"/>
              </a:rPr>
              <a:t>ML </a:t>
            </a:r>
            <a:r>
              <a:rPr lang="de-DE" sz="2200" spc="-1" err="1">
                <a:cs typeface="Arial"/>
              </a:rPr>
              <a:t>Interpretability</a:t>
            </a:r>
            <a:r>
              <a:rPr lang="de-DE" sz="2200" spc="-1">
                <a:cs typeface="Arial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6F566D8-9EAE-9DFA-4CC9-1C5329093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557337"/>
            <a:ext cx="70485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33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494DDB-07B2-7A0C-5B33-A1AB4413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A279A85B-085C-85EE-BFD4-9E15A454B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>
                <a:cs typeface="Arial"/>
              </a:rPr>
              <a:t>ML </a:t>
            </a:r>
            <a:r>
              <a:rPr lang="de-DE" sz="2200" spc="-1" err="1">
                <a:cs typeface="Arial"/>
              </a:rPr>
              <a:t>Interpretability</a:t>
            </a:r>
            <a:r>
              <a:rPr lang="de-DE" sz="2200" spc="-1">
                <a:cs typeface="Arial"/>
              </a:rPr>
              <a:t>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18B5DC-2831-6586-C240-76A0AF63C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557337"/>
            <a:ext cx="70485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2226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01AFE-DC92-7023-C169-71CBEB182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D73521D4-C69A-A3B1-1311-3A4A6FAEE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>
                <a:cs typeface="Arial"/>
              </a:rPr>
              <a:t>ML </a:t>
            </a:r>
            <a:r>
              <a:rPr lang="de-DE" sz="2200" spc="-1" err="1">
                <a:cs typeface="Arial"/>
              </a:rPr>
              <a:t>Interpretability</a:t>
            </a:r>
            <a:r>
              <a:rPr lang="de-DE" sz="2200" spc="-1">
                <a:cs typeface="Arial"/>
              </a:rPr>
              <a:t>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F452D7-E46F-4488-8DA5-C2EE5186A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557338"/>
            <a:ext cx="7048500" cy="3743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8652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C88E3-A2A2-094D-2F79-B1DE22440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9B8D132C-8100-D3F5-8FDC-B1FDB0CC7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Deep Learning Models : Experiment </a:t>
            </a:r>
            <a:r>
              <a:rPr lang="de-DE" sz="2200" spc="-1" dirty="0" err="1">
                <a:cs typeface="Arial"/>
              </a:rPr>
              <a:t>with</a:t>
            </a:r>
            <a:r>
              <a:rPr lang="de-DE" sz="2200" spc="-1" dirty="0">
                <a:cs typeface="Arial"/>
              </a:rPr>
              <a:t> ESM 2</a:t>
            </a:r>
          </a:p>
        </p:txBody>
      </p:sp>
      <p:pic>
        <p:nvPicPr>
          <p:cNvPr id="2" name="Picture 1" descr="A graph with blue dots&#10;&#10;AI-generated content may be incorrect.">
            <a:extLst>
              <a:ext uri="{FF2B5EF4-FFF2-40B4-BE49-F238E27FC236}">
                <a16:creationId xmlns:a16="http://schemas.microsoft.com/office/drawing/2014/main" id="{C44D9A5D-A295-2EA6-B27B-E61F5A232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1557337"/>
            <a:ext cx="7048500" cy="37433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4BFF41-4844-6B8A-913F-C1D22A2BB5A1}"/>
              </a:ext>
            </a:extLst>
          </p:cNvPr>
          <p:cNvSpPr txBox="1"/>
          <p:nvPr/>
        </p:nvSpPr>
        <p:spPr>
          <a:xfrm>
            <a:off x="4987636" y="5654087"/>
            <a:ext cx="390554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ea typeface="+mn-lt"/>
                <a:cs typeface="+mn-lt"/>
                <a:hlinkClick r:id="rId3"/>
              </a:rPr>
              <a:t>DOI: 10.1126/science.ade2574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153888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61B33-3339-CDD6-4EC6-94521D256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BBD8AD16-6709-E32C-380F-147FB690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Deep Learning Models : Experiment </a:t>
            </a:r>
            <a:r>
              <a:rPr lang="de-DE" sz="2200" spc="-1" dirty="0" err="1">
                <a:cs typeface="Arial"/>
              </a:rPr>
              <a:t>with</a:t>
            </a:r>
            <a:r>
              <a:rPr lang="de-DE" sz="2200" spc="-1" dirty="0">
                <a:cs typeface="Arial"/>
              </a:rPr>
              <a:t> ESM 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D970FB-4226-F1AA-973B-E94F35FD9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775" y="1157287"/>
            <a:ext cx="5886450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236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AD0D8-4F73-7951-7666-69E0C8588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AD4F172E-29C4-68A8-542A-DE085B820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>
                <a:cs typeface="Arial"/>
              </a:rPr>
              <a:t>Deep Learning Models : Experiment </a:t>
            </a:r>
            <a:r>
              <a:rPr lang="de-DE" sz="2200" spc="-1" dirty="0" err="1">
                <a:cs typeface="Arial"/>
              </a:rPr>
              <a:t>with</a:t>
            </a:r>
            <a:r>
              <a:rPr lang="de-DE" sz="2200" spc="-1" dirty="0">
                <a:cs typeface="Arial"/>
              </a:rPr>
              <a:t> ESM 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FA71A5-9803-1A72-83CC-56F10B6868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762" y="2481262"/>
            <a:ext cx="5324475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214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E0EC9-61E9-7A8B-BDFA-331C7747B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60815EC2-37C4-3B7B-D381-66C5F4798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cs typeface="Arial"/>
              </a:rPr>
              <a:t>Practical</a:t>
            </a:r>
            <a:r>
              <a:rPr lang="de-DE" sz="2200" spc="-1" dirty="0">
                <a:cs typeface="Arial"/>
              </a:rPr>
              <a:t> Outline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BBB407-61BF-2F27-36F4-BE0C5AAEB470}"/>
              </a:ext>
            </a:extLst>
          </p:cNvPr>
          <p:cNvSpPr txBox="1"/>
          <p:nvPr/>
        </p:nvSpPr>
        <p:spPr>
          <a:xfrm>
            <a:off x="950813" y="1375645"/>
            <a:ext cx="6399451" cy="4247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1. First iteration: EDA + initial ML training ✅ </a:t>
            </a:r>
            <a:r>
              <a:rPr lang="en-US" b="1" i="1" dirty="0"/>
              <a:t>(completed)</a:t>
            </a:r>
            <a:endParaRPr lang="en-US" b="1" dirty="0"/>
          </a:p>
          <a:p>
            <a:br>
              <a:rPr lang="en-US" b="1" dirty="0">
                <a:ea typeface="+mn-lt"/>
                <a:cs typeface="+mn-lt"/>
              </a:rPr>
            </a:br>
            <a:r>
              <a:rPr lang="en-US" b="1" dirty="0">
                <a:ea typeface="+mn-lt"/>
                <a:cs typeface="+mn-lt"/>
              </a:rPr>
              <a:t>What was done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Performed </a:t>
            </a:r>
            <a:r>
              <a:rPr lang="en-US" b="1" dirty="0">
                <a:ea typeface="+mn-lt"/>
                <a:cs typeface="+mn-lt"/>
              </a:rPr>
              <a:t>exploratory data analysis (EDA)</a:t>
            </a:r>
            <a:r>
              <a:rPr lang="en-US" dirty="0">
                <a:ea typeface="+mn-lt"/>
                <a:cs typeface="+mn-lt"/>
              </a:rPr>
              <a:t> on the available samples.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Trained </a:t>
            </a:r>
            <a:r>
              <a:rPr lang="en-US" b="1" dirty="0">
                <a:ea typeface="+mn-lt"/>
                <a:cs typeface="+mn-lt"/>
              </a:rPr>
              <a:t>several baseline ML models</a:t>
            </a:r>
            <a:r>
              <a:rPr lang="en-US" dirty="0">
                <a:ea typeface="+mn-lt"/>
                <a:cs typeface="+mn-lt"/>
              </a:rPr>
              <a:t> (e.g. regression/ RF/ SVM/ </a:t>
            </a:r>
            <a:r>
              <a:rPr lang="en-US" dirty="0" err="1">
                <a:ea typeface="+mn-lt"/>
                <a:cs typeface="+mn-lt"/>
              </a:rPr>
              <a:t>XGBoost</a:t>
            </a:r>
            <a:r>
              <a:rPr lang="en-US" dirty="0">
                <a:ea typeface="+mn-lt"/>
                <a:cs typeface="+mn-lt"/>
              </a:rPr>
              <a:t>/ models) to predict the target.</a:t>
            </a:r>
            <a:br>
              <a:rPr lang="en-US" dirty="0"/>
            </a:b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Main outcomes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Identified </a:t>
            </a:r>
            <a:r>
              <a:rPr lang="en-US" b="1" dirty="0">
                <a:ea typeface="+mn-lt"/>
                <a:cs typeface="+mn-lt"/>
              </a:rPr>
              <a:t>which models perform reasonably well</a:t>
            </a:r>
            <a:r>
              <a:rPr lang="en-US" dirty="0">
                <a:ea typeface="+mn-lt"/>
                <a:cs typeface="+mn-lt"/>
              </a:rPr>
              <a:t>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Identified </a:t>
            </a:r>
            <a:r>
              <a:rPr lang="en-US" b="1" dirty="0">
                <a:ea typeface="+mn-lt"/>
                <a:cs typeface="+mn-lt"/>
              </a:rPr>
              <a:t>key challenges</a:t>
            </a:r>
            <a:r>
              <a:rPr lang="en-US" dirty="0">
                <a:ea typeface="+mn-lt"/>
                <a:cs typeface="+mn-lt"/>
              </a:rPr>
              <a:t>: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Limited sample size → risk of overfitting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r>
              <a:rPr lang="en-US" dirty="0">
                <a:cs typeface="Arial"/>
              </a:rPr>
              <a:t>Reproducibility of results</a:t>
            </a:r>
          </a:p>
          <a:p>
            <a:pPr marL="742950" lvl="1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32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39932-065C-7F35-76FA-94FF3CE9C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97E5E7B7-D056-63A5-9D45-3C439218E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cs typeface="Arial"/>
              </a:rPr>
              <a:t>Practical</a:t>
            </a:r>
            <a:r>
              <a:rPr lang="de-DE" sz="2200" spc="-1" dirty="0">
                <a:cs typeface="Arial"/>
              </a:rPr>
              <a:t> Outline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E02FE4-7783-6922-C41B-ECF9592D7F1E}"/>
              </a:ext>
            </a:extLst>
          </p:cNvPr>
          <p:cNvSpPr txBox="1"/>
          <p:nvPr/>
        </p:nvSpPr>
        <p:spPr>
          <a:xfrm>
            <a:off x="950813" y="1375645"/>
            <a:ext cx="6399451" cy="33547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/>
              <a:t>2. Experiment with digestion metrics &amp; integrate into pipeline ⏳ ~2 days</a:t>
            </a:r>
          </a:p>
          <a:p>
            <a:endParaRPr lang="en-US" b="1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Goal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Design and test </a:t>
            </a:r>
            <a:r>
              <a:rPr lang="en-US" b="1" dirty="0">
                <a:ea typeface="+mn-lt"/>
                <a:cs typeface="+mn-lt"/>
              </a:rPr>
              <a:t>digestion-related parameters</a:t>
            </a:r>
            <a:endParaRPr lang="en-US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Integrated End-To-End pipeline</a:t>
            </a:r>
          </a:p>
          <a:p>
            <a:r>
              <a:rPr lang="en-US" b="1" dirty="0">
                <a:ea typeface="+mn-lt"/>
                <a:cs typeface="+mn-lt"/>
              </a:rPr>
              <a:t>Planned work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Integrate these metrics into preprocessing &amp; feature engineering steps. 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cs typeface="Arial"/>
              </a:rPr>
              <a:t>See how digestion parameters affects the predictions</a:t>
            </a:r>
          </a:p>
          <a:p>
            <a:pPr marL="742950" lvl="1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5660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F0B39-28A6-3445-8C8E-49357ED33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F19470D0-DD70-A204-D188-3CA54B4F4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cs typeface="Arial"/>
              </a:rPr>
              <a:t>Practical</a:t>
            </a:r>
            <a:r>
              <a:rPr lang="de-DE" sz="2200" spc="-1" dirty="0">
                <a:cs typeface="Arial"/>
              </a:rPr>
              <a:t> Outline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8DEBF3-CE80-6673-82AC-822891275003}"/>
              </a:ext>
            </a:extLst>
          </p:cNvPr>
          <p:cNvSpPr txBox="1"/>
          <p:nvPr/>
        </p:nvSpPr>
        <p:spPr>
          <a:xfrm>
            <a:off x="950813" y="1375645"/>
            <a:ext cx="6399451" cy="489364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3. Comprehensive data analysis + full training on all samples ⏳ ~1 week (approx.)</a:t>
            </a:r>
          </a:p>
          <a:p>
            <a:endParaRPr lang="en-US" sz="1600" b="1" dirty="0">
              <a:ea typeface="+mn-lt"/>
              <a:cs typeface="+mn-lt"/>
            </a:endParaRPr>
          </a:p>
          <a:p>
            <a:r>
              <a:rPr lang="en-US" sz="1600" b="1" dirty="0">
                <a:ea typeface="+mn-lt"/>
                <a:cs typeface="+mn-lt"/>
              </a:rPr>
              <a:t>Goal</a:t>
            </a:r>
            <a:endParaRPr lang="en-US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Move from “prototype” to </a:t>
            </a:r>
            <a:r>
              <a:rPr lang="en-US" sz="1600" b="1" dirty="0">
                <a:ea typeface="+mn-lt"/>
                <a:cs typeface="+mn-lt"/>
              </a:rPr>
              <a:t>complete analysis</a:t>
            </a:r>
            <a:r>
              <a:rPr lang="en-US" sz="1600" dirty="0">
                <a:ea typeface="+mn-lt"/>
                <a:cs typeface="+mn-lt"/>
              </a:rPr>
              <a:t> using </a:t>
            </a:r>
            <a:r>
              <a:rPr lang="en-US" sz="1600" b="1" dirty="0">
                <a:ea typeface="+mn-lt"/>
                <a:cs typeface="+mn-lt"/>
              </a:rPr>
              <a:t>all available samples</a:t>
            </a:r>
            <a:r>
              <a:rPr lang="en-US" sz="1600" dirty="0">
                <a:ea typeface="+mn-lt"/>
                <a:cs typeface="+mn-lt"/>
              </a:rPr>
              <a:t> and the improved feature set.</a:t>
            </a:r>
            <a:endParaRPr lang="en-US" dirty="0"/>
          </a:p>
          <a:p>
            <a:r>
              <a:rPr lang="en-US" sz="1600" b="1" dirty="0">
                <a:ea typeface="+mn-lt"/>
                <a:cs typeface="+mn-lt"/>
              </a:rPr>
              <a:t>Planned work</a:t>
            </a:r>
            <a:endParaRPr lang="en-US" sz="1600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Full, cleaned EDA on the </a:t>
            </a:r>
            <a:r>
              <a:rPr lang="en-US" sz="1600" b="1" dirty="0">
                <a:ea typeface="+mn-lt"/>
                <a:cs typeface="+mn-lt"/>
              </a:rPr>
              <a:t>entire dataset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Evaluate performance using solid metrics ( AUC, F1 ).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Perform </a:t>
            </a:r>
            <a:r>
              <a:rPr lang="en-US" sz="1600" b="1" dirty="0">
                <a:ea typeface="+mn-lt"/>
                <a:cs typeface="+mn-lt"/>
              </a:rPr>
              <a:t>error analysis</a:t>
            </a:r>
            <a:r>
              <a:rPr lang="en-US" sz="1600" dirty="0">
                <a:ea typeface="+mn-lt"/>
                <a:cs typeface="+mn-lt"/>
              </a:rPr>
              <a:t>: which types of peptides/samples are systematically mis-predicted?</a:t>
            </a:r>
            <a:endParaRPr lang="en-US" dirty="0"/>
          </a:p>
          <a:p>
            <a:r>
              <a:rPr lang="en-US" sz="1600" b="1" dirty="0">
                <a:ea typeface="+mn-lt"/>
                <a:cs typeface="+mn-lt"/>
              </a:rPr>
              <a:t>Expected result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A </a:t>
            </a:r>
            <a:r>
              <a:rPr lang="en-US" sz="1600" b="1" dirty="0">
                <a:ea typeface="+mn-lt"/>
                <a:cs typeface="+mn-lt"/>
              </a:rPr>
              <a:t>robust, documented pipeline</a:t>
            </a:r>
            <a:r>
              <a:rPr lang="en-US" sz="1600" dirty="0">
                <a:ea typeface="+mn-lt"/>
                <a:cs typeface="+mn-lt"/>
              </a:rPr>
              <a:t> from raw features → digestion metrics → model → performance.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Clear understanding of </a:t>
            </a:r>
            <a:r>
              <a:rPr lang="en-US" sz="1600" b="1" dirty="0">
                <a:ea typeface="+mn-lt"/>
                <a:cs typeface="+mn-lt"/>
              </a:rPr>
              <a:t>limitations and strengths</a:t>
            </a:r>
            <a:r>
              <a:rPr lang="en-US" sz="1600" dirty="0">
                <a:ea typeface="+mn-lt"/>
                <a:cs typeface="+mn-lt"/>
              </a:rPr>
              <a:t> of the approach.</a:t>
            </a:r>
            <a:endParaRPr lang="en-US" dirty="0"/>
          </a:p>
          <a:p>
            <a:endParaRPr lang="en-US" sz="1600" b="1" dirty="0">
              <a:cs typeface="Arial"/>
            </a:endParaRPr>
          </a:p>
          <a:p>
            <a:pPr marL="742950" lvl="1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0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AD4A2-B238-B6AE-BA6A-BBCF3A32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D6593864-2A08-10A7-751B-B675D8068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cs typeface="Arial"/>
              </a:rPr>
              <a:t>Practical</a:t>
            </a:r>
            <a:r>
              <a:rPr lang="de-DE" sz="2200" spc="-1" dirty="0">
                <a:cs typeface="Arial"/>
              </a:rPr>
              <a:t> Outline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885591-BE9F-744C-D1FA-305C512A6CC8}"/>
              </a:ext>
            </a:extLst>
          </p:cNvPr>
          <p:cNvSpPr txBox="1"/>
          <p:nvPr/>
        </p:nvSpPr>
        <p:spPr>
          <a:xfrm>
            <a:off x="950813" y="1375645"/>
            <a:ext cx="6399451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4. Final report, findings, and literature-based suggestions ⏳ ~1 week </a:t>
            </a:r>
            <a:endParaRPr lang="en-US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Goal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Summarize all practical work and link it to a report.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Provide </a:t>
            </a:r>
            <a:r>
              <a:rPr lang="en-US" b="1" dirty="0">
                <a:ea typeface="+mn-lt"/>
                <a:cs typeface="+mn-lt"/>
              </a:rPr>
              <a:t>recommendations</a:t>
            </a:r>
            <a:r>
              <a:rPr lang="en-US" dirty="0">
                <a:ea typeface="+mn-lt"/>
                <a:cs typeface="+mn-lt"/>
              </a:rPr>
              <a:t> for improving peptide detection and experimental design.</a:t>
            </a:r>
          </a:p>
          <a:p>
            <a:r>
              <a:rPr lang="en-US" b="1" dirty="0">
                <a:ea typeface="+mn-lt"/>
                <a:cs typeface="+mn-lt"/>
              </a:rPr>
              <a:t>Planned work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Write </a:t>
            </a:r>
            <a:r>
              <a:rPr lang="en-US" b="1" dirty="0">
                <a:ea typeface="+mn-lt"/>
                <a:cs typeface="+mn-lt"/>
              </a:rPr>
              <a:t>final report </a:t>
            </a:r>
            <a:r>
              <a:rPr lang="en-US" dirty="0">
                <a:ea typeface="+mn-lt"/>
                <a:cs typeface="+mn-lt"/>
              </a:rPr>
              <a:t> including:</a:t>
            </a:r>
            <a:endParaRPr lang="en-US" dirty="0"/>
          </a:p>
          <a:p>
            <a:pPr marL="457200"/>
            <a:r>
              <a:rPr lang="en-US" dirty="0">
                <a:ea typeface="+mn-lt"/>
                <a:cs typeface="+mn-lt"/>
              </a:rPr>
              <a:t>Introduction &amp; background,  Methods, Results, and Discussion.</a:t>
            </a:r>
            <a:endParaRPr lang="en-US" dirty="0"/>
          </a:p>
          <a:p>
            <a:pPr marL="742950" lvl="1" indent="-285750">
              <a:buFont typeface="Arial"/>
              <a:buChar char="•"/>
            </a:pPr>
            <a:endParaRPr lang="en-US" dirty="0">
              <a:ea typeface="+mn-lt"/>
              <a:cs typeface="+mn-lt"/>
            </a:endParaRPr>
          </a:p>
          <a:p>
            <a:endParaRPr lang="en-US" b="1" dirty="0">
              <a:cs typeface="Arial"/>
            </a:endParaRPr>
          </a:p>
          <a:p>
            <a:pPr marL="742950" lvl="1" indent="-285750">
              <a:buFont typeface="Arial"/>
              <a:buChar char="•"/>
            </a:pPr>
            <a:endParaRPr lang="en-US" dirty="0"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9381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2EF46-A36F-1711-E252-1C343AD57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PlaceHolder 1">
            <a:extLst>
              <a:ext uri="{FF2B5EF4-FFF2-40B4-BE49-F238E27FC236}">
                <a16:creationId xmlns:a16="http://schemas.microsoft.com/office/drawing/2014/main" id="{C573A6AF-1B1A-1CD7-16A1-0DE173CAB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1640" y="111240"/>
            <a:ext cx="8375400" cy="707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numCol="1" spcCol="0" anchor="b">
            <a:noAutofit/>
          </a:bodyPr>
          <a:lstStyle/>
          <a:p>
            <a:pPr>
              <a:lnSpc>
                <a:spcPct val="100000"/>
              </a:lnSpc>
            </a:pPr>
            <a:r>
              <a:rPr lang="de-DE" sz="2200" spc="-1" dirty="0" err="1">
                <a:cs typeface="Arial"/>
              </a:rPr>
              <a:t>Sugesstions</a:t>
            </a:r>
          </a:p>
        </p:txBody>
      </p:sp>
    </p:spTree>
    <p:extLst>
      <p:ext uri="{BB962C8B-B14F-4D97-AF65-F5344CB8AC3E}">
        <p14:creationId xmlns:p14="http://schemas.microsoft.com/office/powerpoint/2010/main" val="4220645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DDDDDD"/>
      </a:lt2>
      <a:accent1>
        <a:srgbClr val="BE1E3C"/>
      </a:accent1>
      <a:accent2>
        <a:srgbClr val="4DA6CB"/>
      </a:accent2>
      <a:accent3>
        <a:srgbClr val="ADBF4D"/>
      </a:accent3>
      <a:accent4>
        <a:srgbClr val="FA6E00"/>
      </a:accent4>
      <a:accent5>
        <a:srgbClr val="407E97"/>
      </a:accent5>
      <a:accent6>
        <a:srgbClr val="984098"/>
      </a:accent6>
      <a:hlink>
        <a:srgbClr val="BE1E3C"/>
      </a:hlink>
      <a:folHlink>
        <a:srgbClr val="760054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986</Words>
  <Application>Microsoft Office PowerPoint</Application>
  <PresentationFormat>On-screen Show (4:3)</PresentationFormat>
  <Paragraphs>311</Paragraphs>
  <Slides>24</Slides>
  <Notes>0</Notes>
  <HiddenSlides>0</HiddenSlides>
  <ScaleCrop>false</ScaleCrop>
  <HeadingPairs>
    <vt:vector size="4" baseType="variant">
      <vt:variant>
        <vt:lpstr>Theme</vt:lpstr>
      </vt:variant>
      <vt:variant>
        <vt:i4>12</vt:i4>
      </vt:variant>
      <vt:variant>
        <vt:lpstr>Slide Titles</vt:lpstr>
      </vt:variant>
      <vt:variant>
        <vt:i4>24</vt:i4>
      </vt:variant>
    </vt:vector>
  </HeadingPairs>
  <TitlesOfParts>
    <vt:vector size="36" baseType="lpstr"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Functional Genomics Practical</vt:lpstr>
      <vt:lpstr>Proteomics Work Flow</vt:lpstr>
      <vt:lpstr>From theoretical peptides to real sample digest</vt:lpstr>
      <vt:lpstr>From theoretical peptides to real sample digest</vt:lpstr>
      <vt:lpstr>Why many peptides don’t show up: key limiting factors</vt:lpstr>
      <vt:lpstr>Consequences &amp; mitigation strategies</vt:lpstr>
      <vt:lpstr>Sample Statistics</vt:lpstr>
      <vt:lpstr>Sample Statistics</vt:lpstr>
      <vt:lpstr>Sample Statistics</vt:lpstr>
      <vt:lpstr>Sample Statistics</vt:lpstr>
      <vt:lpstr>Training  ML Models</vt:lpstr>
      <vt:lpstr>Training  ML Models</vt:lpstr>
      <vt:lpstr>ML Interpretability </vt:lpstr>
      <vt:lpstr>ML Interpretability </vt:lpstr>
      <vt:lpstr>ML Interpretability </vt:lpstr>
      <vt:lpstr>ML Interpretability </vt:lpstr>
      <vt:lpstr>Deep Learning Models : Experiment with ESM 2</vt:lpstr>
      <vt:lpstr>Deep Learning Models : Experiment with ESM 2</vt:lpstr>
      <vt:lpstr>Deep Learning Models : Experiment with ESM 2</vt:lpstr>
      <vt:lpstr>Practical Outline</vt:lpstr>
      <vt:lpstr>Practical Outline</vt:lpstr>
      <vt:lpstr>Practical Outline</vt:lpstr>
      <vt:lpstr>Practical Outline</vt:lpstr>
      <vt:lpstr>Sugesstions</vt:lpstr>
    </vt:vector>
  </TitlesOfParts>
  <Company>TU Braunschweig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320</cp:revision>
  <dcterms:modified xsi:type="dcterms:W3CDTF">2025-11-18T11:49:46Z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2025-11-18T10:55:06Z</dcterms:created>
  <dc:creator/>
  <dc:description/>
  <dc:language>en-US</dc:language>
  <cp:lastModifiedBy>Ulrike Rolf</cp:lastModifiedBy>
  <cp:lastPrinted>2016-07-27T11:29:09Z</cp:lastPrinted>
  <dcterms:modified xsi:type="dcterms:W3CDTF">2018-01-26T15:53:15Z</dcterms:modified>
  <cp:revision>16</cp:revision>
  <dc:subject/>
  <dc:title>PowerPoint-Präsentation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Bildschirmpräsentation (4:3)</vt:lpwstr>
  </property>
  <property fmtid="{D5CDD505-2E9C-101B-9397-08002B2CF9AE}" pid="3" name="Slides">
    <vt:i4>22</vt:i4>
  </property>
</Properties>
</file>