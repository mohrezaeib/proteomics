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ppt/comments/modernComment_116_3DC4D19D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</p:sldMasterIdLst>
  <p:sldIdLst>
    <p:sldId id="256" r:id="rId13"/>
    <p:sldId id="277" r:id="rId14"/>
    <p:sldId id="280" r:id="rId15"/>
    <p:sldId id="278" r:id="rId16"/>
    <p:sldId id="279" r:id="rId17"/>
    <p:sldId id="281" r:id="rId18"/>
    <p:sldId id="282" r:id="rId19"/>
    <p:sldId id="283" r:id="rId20"/>
    <p:sldId id="284" r:id="rId21"/>
    <p:sldId id="285" r:id="rId22"/>
    <p:sldId id="286" r:id="rId23"/>
    <p:sldId id="295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6" r:id="rId33"/>
    <p:sldId id="297" r:id="rId34"/>
    <p:sldId id="298" r:id="rId35"/>
    <p:sldId id="299" r:id="rId36"/>
    <p:sldId id="300" r:id="rId3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CB0238-7521-07E8-EBE0-70F5BB6CB0D6}" name="Mohamad Rezaei" initials="MR" userId="1d270735fb07083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8BF85-6FBC-4CE7-B18A-9DB41C99B132}" v="851" dt="2025-11-18T11:15:28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viewProps" Target="viewProps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microsoft.com/office/2018/10/relationships/authors" Target="author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presProps" Target="presProps.xml"/></Relationships>
</file>

<file path=ppt/comments/modernComment_116_3DC4D1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4BBA0F-A501-48A5-8CC4-555DE5843B54}" authorId="{63CB0238-7521-07E8-EBE0-70F5BB6CB0D6}" created="2025-11-18T10:23:12.807">
    <pc:sldMkLst xmlns:pc="http://schemas.microsoft.com/office/powerpoint/2013/main/command">
      <pc:docMk/>
      <pc:sldMk cId="1036308893" sldId="278"/>
    </pc:sldMkLst>
    <p188:txBody>
      <a:bodyPr/>
      <a:lstStyle/>
      <a:p>
        <a:r>
          <a:rPr lang="en-US"/>
          <a:t>Reference discussion:
Reviews show that missing peptides in MS-based proteomics is a persistent issue. https://pubs.acs.org/doi/10.1021/acs.jproteome.5b00482?utm_source=chatgpt.com
One guide notes that “identification and quantification of peptides does not occur simultaneously … the missing values may occur when the corresponding peptide is actually missing, or if it is present, but unidentified.” https://egor-pro.medium.com/missing-with-out-a-trace-da186405e02b?utm_source=chatgpt.com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7" hidden="1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28792990-DC62-46BE-B1CC-EB97009A7913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" name="Rectangle 22"/>
          <p:cNvSpPr/>
          <p:nvPr/>
        </p:nvSpPr>
        <p:spPr>
          <a:xfrm>
            <a:off x="297000" y="1449360"/>
            <a:ext cx="8550000" cy="2653920"/>
          </a:xfrm>
          <a:prstGeom prst="rect">
            <a:avLst/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Platzhalter für Bild, Bild auf Titelfolie hinter das Logo einsetzen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" name="Rectangle 17"/>
          <p:cNvSpPr/>
          <p:nvPr/>
        </p:nvSpPr>
        <p:spPr>
          <a:xfrm>
            <a:off x="287280" y="4103640"/>
            <a:ext cx="8583120" cy="2192040"/>
          </a:xfrm>
          <a:prstGeom prst="rect">
            <a:avLst/>
          </a:prstGeom>
          <a:solidFill>
            <a:srgbClr val="FFF0B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5" name="Picture 16" descr="TU_Braunschweig_02"/>
          <p:cNvPicPr/>
          <p:nvPr/>
        </p:nvPicPr>
        <p:blipFill>
          <a:blip r:embed="rId15"/>
          <a:stretch/>
        </p:blipFill>
        <p:spPr>
          <a:xfrm>
            <a:off x="287280" y="1438200"/>
            <a:ext cx="8580240" cy="2665080"/>
          </a:xfrm>
          <a:prstGeom prst="rect">
            <a:avLst/>
          </a:prstGeom>
          <a:ln w="0">
            <a:noFill/>
          </a:ln>
        </p:spPr>
      </p:pic>
      <p:pic>
        <p:nvPicPr>
          <p:cNvPr id="6" name="Picture 13" descr="TUBS_CO_150dpi"/>
          <p:cNvPicPr/>
          <p:nvPr/>
        </p:nvPicPr>
        <p:blipFill>
          <a:blip r:embed="rId16"/>
          <a:stretch/>
        </p:blipFill>
        <p:spPr>
          <a:xfrm>
            <a:off x="0" y="741240"/>
            <a:ext cx="2517480" cy="939600"/>
          </a:xfrm>
          <a:prstGeom prst="rect">
            <a:avLst/>
          </a:prstGeom>
          <a:ln w="0">
            <a:noFill/>
          </a:ln>
        </p:spPr>
      </p:pic>
      <p:sp>
        <p:nvSpPr>
          <p:cNvPr id="7" name="Rectangle 18"/>
          <p:cNvSpPr/>
          <p:nvPr/>
        </p:nvSpPr>
        <p:spPr>
          <a:xfrm>
            <a:off x="287280" y="6297480"/>
            <a:ext cx="8583120" cy="286920"/>
          </a:xfrm>
          <a:prstGeom prst="rect">
            <a:avLst/>
          </a:prstGeom>
          <a:solidFill>
            <a:srgbClr val="BE1E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1960" y="43560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 der Präsentation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77A8070C-B0FE-4881-BADC-1DEE882AC07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7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8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A33708FF-089E-4FFF-B59E-15493CF53D7C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88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9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86000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59BAEE05-8336-474C-932E-BBD2AFEFA188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30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31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31640" y="1042920"/>
            <a:ext cx="8375400" cy="47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Diagramm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F92A5579-7520-4E11-B966-47D3BC997B09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7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76E27F30-6958-442B-807F-CFDAA140E2D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12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13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14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FB3F8708-646A-4A18-9B96-046CE6DC0946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54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55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86000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0BDD44E7-9177-4716-871F-1E16C62DCAB3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97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98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99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431640" y="1042920"/>
            <a:ext cx="8375400" cy="47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Diagramm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5ADF2141-2F4B-4650-94D1-C3B05834B897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339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40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41" name="Rectangle 6"/>
          <p:cNvSpPr/>
          <p:nvPr/>
        </p:nvSpPr>
        <p:spPr>
          <a:xfrm>
            <a:off x="0" y="0"/>
            <a:ext cx="9143640" cy="113328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Zwischentitel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431640" y="1339920"/>
            <a:ext cx="8370360" cy="46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A2046578-97D3-4D19-8081-DC7A21A8647C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38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8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83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86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  <p:pic>
        <p:nvPicPr>
          <p:cNvPr id="387" name="Picture 16"/>
          <p:cNvPicPr/>
          <p:nvPr/>
        </p:nvPicPr>
        <p:blipFill>
          <a:blip r:embed="rId15"/>
          <a:srcRect b="648"/>
          <a:stretch/>
        </p:blipFill>
        <p:spPr>
          <a:xfrm>
            <a:off x="252000" y="288000"/>
            <a:ext cx="8639640" cy="3023640"/>
          </a:xfrm>
          <a:prstGeom prst="rect">
            <a:avLst/>
          </a:prstGeom>
          <a:ln w="0">
            <a:noFill/>
          </a:ln>
        </p:spPr>
      </p:pic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ED2939ED-147A-43E7-A8A4-BC4C5307C91D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26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27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28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0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252000" y="288000"/>
            <a:ext cx="8639640" cy="30236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Bild durch Klicken auf Symbol hinzufügen</a:t>
            </a:r>
          </a:p>
        </p:txBody>
      </p:sp>
      <p:sp>
        <p:nvSpPr>
          <p:cNvPr id="432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E71CB81E-D068-45DC-A5B6-5017E13731A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70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71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72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FA6E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75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252000" y="288000"/>
            <a:ext cx="8639640" cy="30236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Bild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74/jbc.R110.19970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doi.org/10.1074/jbc.R110.199703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16_3DC4D19D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ubTitle"/>
          </p:nvPr>
        </p:nvSpPr>
        <p:spPr>
          <a:xfrm>
            <a:off x="830160" y="5499000"/>
            <a:ext cx="7746480" cy="33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/>
            <a:r>
              <a:rPr lang="en-US" sz="1200" spc="-1" dirty="0">
                <a:latin typeface="Arial"/>
              </a:rPr>
              <a:t>Mohammad Rezaei| November 20245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title"/>
          </p:nvPr>
        </p:nvSpPr>
        <p:spPr>
          <a:xfrm>
            <a:off x="831960" y="43560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Functional</a:t>
            </a:r>
            <a:r>
              <a:rPr lang="de-DE" sz="22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Genomics</a:t>
            </a:r>
            <a:r>
              <a:rPr lang="de-DE" sz="22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Practical</a:t>
            </a:r>
            <a:endParaRPr lang="de-DE" sz="2200" b="0" strike="noStrike" spc="-1" dirty="0" err="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 idx="4294967295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Proteomics</a:t>
            </a:r>
            <a:r>
              <a:rPr lang="de-DE" sz="2200" spc="-1" dirty="0">
                <a:cs typeface="Arial"/>
              </a:rPr>
              <a:t> Work Flow</a:t>
            </a:r>
          </a:p>
        </p:txBody>
      </p:sp>
      <p:pic>
        <p:nvPicPr>
          <p:cNvPr id="2" name="Content Placeholder 1" descr="A diagram of different types of dna&#10;&#10;AI-generated content may be incorrect.">
            <a:extLst>
              <a:ext uri="{FF2B5EF4-FFF2-40B4-BE49-F238E27FC236}">
                <a16:creationId xmlns:a16="http://schemas.microsoft.com/office/drawing/2014/main" id="{E9FE8559-B537-0BB7-6BD0-0BEAE4B8648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565985" y="1755784"/>
            <a:ext cx="5941155" cy="33412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2533E1-D946-4F7B-E6C2-BDCC17D0E620}"/>
              </a:ext>
            </a:extLst>
          </p:cNvPr>
          <p:cNvSpPr txBox="1"/>
          <p:nvPr/>
        </p:nvSpPr>
        <p:spPr>
          <a:xfrm>
            <a:off x="5839752" y="5792548"/>
            <a:ext cx="16656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+mn-lt"/>
                <a:cs typeface="+mn-lt"/>
              </a:rPr>
              <a:t>DOI: </a:t>
            </a:r>
            <a:r>
              <a:rPr lang="en-US" sz="800" dirty="0">
                <a:ea typeface="+mn-lt"/>
                <a:cs typeface="+mn-lt"/>
                <a:hlinkClick r:id="rId3"/>
              </a:rPr>
              <a:t>10.1074/jbc.R110.199703</a:t>
            </a:r>
            <a:endParaRPr lang="en-US"/>
          </a:p>
          <a:p>
            <a:endParaRPr lang="en-US" sz="800" dirty="0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74D06-09DF-E7BE-6D73-4B2D942F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5CA3895-3228-F713-47F4-376EDE41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From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theoretical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to</a:t>
            </a:r>
            <a:r>
              <a:rPr lang="de-DE" sz="2200" spc="-1" dirty="0">
                <a:ea typeface="+mj-lt"/>
                <a:cs typeface="+mj-lt"/>
              </a:rPr>
              <a:t> real sample </a:t>
            </a:r>
            <a:r>
              <a:rPr lang="de-DE" sz="2200" spc="-1" dirty="0" err="1">
                <a:ea typeface="+mj-lt"/>
                <a:cs typeface="+mj-lt"/>
              </a:rPr>
              <a:t>digest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6BA97-1160-F3EE-9A80-E5A8CB2D33C0}"/>
              </a:ext>
            </a:extLst>
          </p:cNvPr>
          <p:cNvSpPr txBox="1"/>
          <p:nvPr/>
        </p:nvSpPr>
        <p:spPr>
          <a:xfrm>
            <a:off x="5839752" y="5792548"/>
            <a:ext cx="16656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+mn-lt"/>
                <a:cs typeface="+mn-lt"/>
              </a:rPr>
              <a:t>DOI: </a:t>
            </a:r>
            <a:r>
              <a:rPr lang="en-US" sz="800" dirty="0">
                <a:ea typeface="+mn-lt"/>
                <a:cs typeface="+mn-lt"/>
                <a:hlinkClick r:id="rId2"/>
              </a:rPr>
              <a:t>10.1074/jbc.R110.199703</a:t>
            </a:r>
            <a:endParaRPr lang="en-US"/>
          </a:p>
          <a:p>
            <a:endParaRPr lang="en-US" sz="800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0FC24-F508-15C4-58E4-E872173F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9" y="3094149"/>
            <a:ext cx="3400425" cy="1762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2E6C7E-1314-D2D7-88FF-68B181053BEA}"/>
              </a:ext>
            </a:extLst>
          </p:cNvPr>
          <p:cNvSpPr txBox="1"/>
          <p:nvPr/>
        </p:nvSpPr>
        <p:spPr>
          <a:xfrm>
            <a:off x="957557" y="4936141"/>
            <a:ext cx="1942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https://www.promega.de/en/resources/guides/protein-analysis/protease-digestion-for-mass-spec/</a:t>
            </a:r>
            <a:endParaRPr lang="en-US" sz="600"/>
          </a:p>
          <a:p>
            <a:endParaRPr lang="en-US" sz="600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16EC5-D4D7-A7DB-F351-4BC7CCA6CB4C}"/>
              </a:ext>
            </a:extLst>
          </p:cNvPr>
          <p:cNvSpPr txBox="1"/>
          <p:nvPr/>
        </p:nvSpPr>
        <p:spPr>
          <a:xfrm>
            <a:off x="519239" y="1250894"/>
            <a:ext cx="82875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“theoretical digest”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means: for a given protein sequence, apply enzyme rules </a:t>
            </a:r>
            <a:endParaRPr lang="en-US" dirty="0">
              <a:solidFill>
                <a:srgbClr val="000000"/>
              </a:solidFill>
              <a:latin typeface="DejaVu Sans"/>
              <a:ea typeface="Arial"/>
              <a:cs typeface="Arial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 trypsin always cuts after K/R) → list of all possible peptides.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4C73A-5E54-F516-7A9A-1BE0476D5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045" y="2453699"/>
            <a:ext cx="23336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8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5F71-7572-AD73-340A-E77E3B32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BB59E23-53C9-C9A9-A684-2D7DBCB2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From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theoretical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to real sample </a:t>
            </a:r>
            <a:r>
              <a:rPr lang="de-DE" sz="2200" spc="-1" dirty="0" err="1">
                <a:ea typeface="+mj-lt"/>
                <a:cs typeface="+mj-lt"/>
              </a:rPr>
              <a:t>digest</a:t>
            </a:r>
            <a:endParaRPr lang="en-US" dirty="0" err="1">
              <a:ea typeface="+mj-lt"/>
              <a:cs typeface="+mj-lt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1F92507-EAA2-AF3E-80AD-876E66E038AC}"/>
              </a:ext>
            </a:extLst>
          </p:cNvPr>
          <p:cNvSpPr txBox="1"/>
          <p:nvPr/>
        </p:nvSpPr>
        <p:spPr>
          <a:xfrm>
            <a:off x="532725" y="1085681"/>
            <a:ext cx="4329238" cy="39703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reality: protein extraction → denaturation → digestion → cleanup → LC-MS/MS. At each step peptides may be lost or transformed.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cs typeface="Arial"/>
              </a:rPr>
              <a:t>So we should expect: </a:t>
            </a:r>
          </a:p>
          <a:p>
            <a:pPr marL="285750" indent="-285750">
              <a:buFont typeface="Arial"/>
              <a:buChar char="•"/>
            </a:pPr>
            <a:r>
              <a:rPr lang="en-US" b="1" i="1" dirty="0">
                <a:cs typeface="Arial"/>
              </a:rPr>
              <a:t>Maximum theoretical peptides</a:t>
            </a:r>
            <a:r>
              <a:rPr lang="en-US" b="1" dirty="0">
                <a:cs typeface="Arial"/>
              </a:rPr>
              <a:t> </a:t>
            </a:r>
            <a:r>
              <a:rPr lang="en-US" dirty="0">
                <a:cs typeface="Arial"/>
              </a:rPr>
              <a:t>≥</a:t>
            </a:r>
            <a:r>
              <a:rPr lang="en-US" b="1" dirty="0">
                <a:cs typeface="Arial"/>
              </a:rPr>
              <a:t> </a:t>
            </a:r>
            <a:r>
              <a:rPr lang="en-US" b="1" i="1" dirty="0">
                <a:cs typeface="Arial"/>
              </a:rPr>
              <a:t>actual peptides detected</a:t>
            </a:r>
            <a:r>
              <a:rPr lang="en-US" b="1" dirty="0">
                <a:cs typeface="Arial"/>
              </a:rPr>
              <a:t>.</a:t>
            </a: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DC4B18-9E96-CC90-AB4C-EAFE7FB5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423" y="1779574"/>
            <a:ext cx="2339190" cy="2745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436DD7-5D22-9D77-215B-F0FBB8D56A5F}"/>
              </a:ext>
            </a:extLst>
          </p:cNvPr>
          <p:cNvSpPr txBox="1"/>
          <p:nvPr/>
        </p:nvSpPr>
        <p:spPr>
          <a:xfrm>
            <a:off x="5927415" y="4808017"/>
            <a:ext cx="233320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DOI: </a:t>
            </a:r>
            <a:r>
              <a:rPr lang="en-US" sz="1000" dirty="0">
                <a:ea typeface="+mn-lt"/>
                <a:cs typeface="+mn-lt"/>
              </a:rPr>
              <a:t>10.1021/acs.analchem.9b03604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63088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1D25-503D-410C-384F-D1B83825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73CEDF09-CBB9-75F5-B5C5-924D88FA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Why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many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don’t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show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up</a:t>
            </a:r>
            <a:r>
              <a:rPr lang="de-DE" sz="2200" spc="-1" dirty="0">
                <a:ea typeface="+mj-lt"/>
                <a:cs typeface="+mj-lt"/>
              </a:rPr>
              <a:t>: </a:t>
            </a:r>
            <a:r>
              <a:rPr lang="de-DE" sz="2200" spc="-1" dirty="0" err="1">
                <a:ea typeface="+mj-lt"/>
                <a:cs typeface="+mj-lt"/>
              </a:rPr>
              <a:t>key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limiting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factors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13C1E-EF65-E160-F2BD-75110446FFD4}"/>
              </a:ext>
            </a:extLst>
          </p:cNvPr>
          <p:cNvSpPr txBox="1"/>
          <p:nvPr/>
        </p:nvSpPr>
        <p:spPr>
          <a:xfrm>
            <a:off x="5839752" y="5792548"/>
            <a:ext cx="1942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https://egor-pro.medium.com/missing-with-out-a-trace-da186405e02b</a:t>
            </a:r>
            <a:endParaRPr lang="en-US" dirty="0"/>
          </a:p>
          <a:p>
            <a:endParaRPr lang="en-US" sz="600" dirty="0">
              <a:cs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9E4373E-6F4E-0DC1-740C-0518E78FEC5F}"/>
              </a:ext>
            </a:extLst>
          </p:cNvPr>
          <p:cNvSpPr txBox="1"/>
          <p:nvPr/>
        </p:nvSpPr>
        <p:spPr>
          <a:xfrm>
            <a:off x="532725" y="1085681"/>
            <a:ext cx="6972636" cy="415498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Digestion inefficiencies:</a:t>
            </a:r>
            <a:r>
              <a:rPr lang="en-US" sz="1200" dirty="0">
                <a:ea typeface="+mn-lt"/>
                <a:cs typeface="+mn-lt"/>
              </a:rPr>
              <a:t> e.g. missed cleavages, blocked/modified sites, protein structure impeding enzyme access → fewer “ideal” peptides.</a:t>
            </a:r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Peptides with unsuitable properties: </a:t>
            </a:r>
            <a:r>
              <a:rPr lang="en-US" sz="1200" dirty="0">
                <a:ea typeface="+mn-lt"/>
                <a:cs typeface="+mn-lt"/>
              </a:rPr>
              <a:t>too small/too large, extreme hydrophobicity, weak </a:t>
            </a:r>
            <a:r>
              <a:rPr lang="en-US" sz="1200" err="1">
                <a:ea typeface="+mn-lt"/>
                <a:cs typeface="+mn-lt"/>
              </a:rPr>
              <a:t>ionisation</a:t>
            </a:r>
            <a:r>
              <a:rPr lang="en-US" sz="1200" dirty="0">
                <a:ea typeface="+mn-lt"/>
                <a:cs typeface="+mn-lt"/>
              </a:rPr>
              <a:t> → poor LC/MS detection.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Sample &amp; LC losses:</a:t>
            </a:r>
            <a:r>
              <a:rPr lang="en-US" sz="1200" dirty="0">
                <a:ea typeface="+mn-lt"/>
                <a:cs typeface="+mn-lt"/>
              </a:rPr>
              <a:t> adsorption to tubes or tips, co-elution suppression, low abundance overshadowed by high abundance peptides.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Acquisition &amp; selection issues:</a:t>
            </a:r>
            <a:r>
              <a:rPr lang="en-US" sz="1200" dirty="0">
                <a:ea typeface="+mn-lt"/>
                <a:cs typeface="+mn-lt"/>
              </a:rPr>
              <a:t> in DDA (data dependent acquisition) the instrument selects only top N-ions → many lower-abundance peptides never get fragmented.</a:t>
            </a:r>
            <a:endParaRPr lang="en-US" sz="1200" dirty="0">
              <a:cs typeface="Arial"/>
            </a:endParaRPr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Data analysis filters:</a:t>
            </a:r>
            <a:r>
              <a:rPr lang="en-US" sz="1200" dirty="0">
                <a:ea typeface="+mn-lt"/>
                <a:cs typeface="+mn-lt"/>
              </a:rPr>
              <a:t> some peptides are present but the MS/MS spectra are of poor quality, or search parameters too strict → they go undetected or unassigned. Systematic errors arise from e.g. modifications, shared peptides, etc.</a:t>
            </a:r>
            <a:endParaRPr lang="en-US" sz="1200" dirty="0"/>
          </a:p>
          <a:p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552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F908-7298-0801-6156-7588E0D3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20F3749D-7B36-D80E-C391-8490B4EB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Consequences</a:t>
            </a:r>
            <a:r>
              <a:rPr lang="de-DE" sz="2200" spc="-1" dirty="0">
                <a:ea typeface="+mj-lt"/>
                <a:cs typeface="+mj-lt"/>
              </a:rPr>
              <a:t> &amp; </a:t>
            </a:r>
            <a:r>
              <a:rPr lang="de-DE" sz="2200" spc="-1" dirty="0" err="1">
                <a:ea typeface="+mj-lt"/>
                <a:cs typeface="+mj-lt"/>
              </a:rPr>
              <a:t>mitigation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strategies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91579-CC99-29DF-DBF9-8F31BADF8BF9}"/>
              </a:ext>
            </a:extLst>
          </p:cNvPr>
          <p:cNvSpPr txBox="1"/>
          <p:nvPr/>
        </p:nvSpPr>
        <p:spPr>
          <a:xfrm>
            <a:off x="5839752" y="5792548"/>
            <a:ext cx="194208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https://doi.org/10.1038/s41467-023-40129-9</a:t>
            </a:r>
            <a:endParaRPr lang="en-US" dirty="0"/>
          </a:p>
          <a:p>
            <a:endParaRPr lang="en-US" sz="600" dirty="0">
              <a:cs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5B86402-8703-7A59-DB1F-372ACAC79DA2}"/>
              </a:ext>
            </a:extLst>
          </p:cNvPr>
          <p:cNvSpPr txBox="1"/>
          <p:nvPr/>
        </p:nvSpPr>
        <p:spPr>
          <a:xfrm>
            <a:off x="532725" y="1085681"/>
            <a:ext cx="6972636" cy="19389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Consequences</a:t>
            </a:r>
            <a:r>
              <a:rPr lang="en-US" sz="1200" dirty="0">
                <a:ea typeface="+mn-lt"/>
                <a:cs typeface="+mn-lt"/>
              </a:rPr>
              <a:t>: lower proteome/peptide coverage than predicted; gaps (“missing values”) in quantitative datasets; bias toward high‐abundance peptides; under-representation of low abundance or difficult peptides (e.g., from membrane proteins, PTMs)</a:t>
            </a:r>
            <a:endParaRPr lang="en-US" dirty="0"/>
          </a:p>
          <a:p>
            <a:endParaRPr lang="en-US" sz="1200" dirty="0">
              <a:cs typeface="Arial"/>
            </a:endParaRPr>
          </a:p>
          <a:p>
            <a:r>
              <a:rPr lang="en-US" sz="1200" b="1" dirty="0">
                <a:ea typeface="+mn-lt"/>
                <a:cs typeface="+mn-lt"/>
              </a:rPr>
              <a:t>Mitigation strategies:</a:t>
            </a:r>
            <a:endParaRPr lang="en-US" sz="1200" b="1" dirty="0"/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Improve digestion efficiency (optimize </a:t>
            </a:r>
            <a:r>
              <a:rPr lang="en-US" sz="1200" err="1">
                <a:ea typeface="+mn-lt"/>
                <a:cs typeface="+mn-lt"/>
              </a:rPr>
              <a:t>enzyme:substrate</a:t>
            </a:r>
            <a:r>
              <a:rPr lang="en-US" sz="1200" dirty="0">
                <a:ea typeface="+mn-lt"/>
                <a:cs typeface="+mn-lt"/>
              </a:rPr>
              <a:t> ratio, denaturation, time, </a:t>
            </a:r>
            <a:r>
              <a:rPr lang="en-US" sz="1200" err="1">
                <a:ea typeface="+mn-lt"/>
                <a:cs typeface="+mn-lt"/>
              </a:rPr>
              <a:t>etc</a:t>
            </a:r>
            <a:r>
              <a:rPr lang="en-US" sz="1200">
                <a:ea typeface="+mn-lt"/>
                <a:cs typeface="+mn-lt"/>
              </a:rPr>
              <a:t>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 alternative proteases or multi-enzyme digestions to cover “hard” regions.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Choose acquisition mode carefully: consider DIA (data independent acquisition) to reduce stochastic missing values compared to DDA.</a:t>
            </a:r>
            <a:endParaRPr lang="en-US"/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3179004-EE90-F1C2-6D2B-4C2EA8B8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620" y="4128580"/>
            <a:ext cx="4245537" cy="16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7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4F32-7AAA-6568-C86C-C53FFC2F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ED1EB81D-C287-21CB-AB7A-8913532B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2" name="Picture 1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8CE78173-DBA9-BE89-5922-C6F9EC0DB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71625"/>
            <a:ext cx="6667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0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91F8-07A3-1FD5-9006-09A0BE5E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2884E22-30AE-2EC9-BC61-9AEE1D46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E8A6B-5DBA-2C43-A08B-76C38E816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71625"/>
            <a:ext cx="6667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6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AEDF-AE91-B789-7621-DD38419F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7014771-C74E-CF2A-7C78-42BD0E3E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478F45-DF10-026E-E725-63E5998B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757237"/>
            <a:ext cx="63246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9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56C5-0D08-4F70-0B9D-C20C7C07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2A629B8-99E0-0693-7DB7-89F818EF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0D90E-1EFB-A4B2-426D-5EC413F6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1743075"/>
            <a:ext cx="73818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7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CA77-ADF5-C59A-62E7-2B05F675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C5BAA6B0-6A43-71B4-2BF8-E43EEB4A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Training  ML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A736D-5F26-1B8E-7886-27454DAEF6D3}"/>
              </a:ext>
            </a:extLst>
          </p:cNvPr>
          <p:cNvSpPr txBox="1"/>
          <p:nvPr/>
        </p:nvSpPr>
        <p:spPr>
          <a:xfrm>
            <a:off x="1328442" y="1577947"/>
            <a:ext cx="739746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LogisticRegression | Accuracy: 0.820 | F1: 0.617
      RandomForest | Accuracy: 0.869 | F1: 0.731
           XGBoost | Accuracy: 0.881 | F1: 0.764
               SVM | Accuracy: 0.859 | F1: 0.710
               MLP | Accuracy: 0.847 | F1: 0.700</a:t>
            </a:r>
          </a:p>
          <a:p>
            <a:r>
              <a:rPr lang="en-US" dirty="0">
                <a:latin typeface="Consolas"/>
              </a:rPr>
              <a:t>  ESM2 Fine tuning | Accuracy: 0.887 | F1: 0.888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78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B600-3DC8-3B26-B601-0DFFA7B0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8193EC0-6ABC-E1B0-2FDC-C448A8CE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Training  ML Models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D3A930-6A62-ECD1-A865-8CCF226D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62" y="1004888"/>
            <a:ext cx="48672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1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9DECE-8259-5E99-64C6-4687F5E3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4F9A4E0E-D282-C6A1-ACC5-7CCD0450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ML </a:t>
            </a:r>
            <a:r>
              <a:rPr lang="de-DE" sz="2200" spc="-1" dirty="0" err="1">
                <a:cs typeface="Arial"/>
              </a:rPr>
              <a:t>Interpretability</a:t>
            </a:r>
            <a:r>
              <a:rPr lang="de-DE" sz="2200" spc="-1" dirty="0">
                <a:cs typeface="Arial"/>
              </a:rPr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53E51-02BD-0E0F-6CBA-147A0966F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8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FF7E-93D2-20EC-A1C8-C43DCB92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83C4FED2-6524-2830-91AC-FCA7FABA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F566D8-9EAE-9DFA-4CC9-1C5329093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3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4DDB-07B2-7A0C-5B33-A1AB4413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279A85B-085C-85EE-BFD4-9E15A454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18B5DC-2831-6586-C240-76A0AF63C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22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1AFE-DC92-7023-C169-71CBEB18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73521D4-C69A-A3B1-1311-3A4A6FAE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452D7-E46F-4488-8DA5-C2EE5186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8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6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88E3-A2A2-094D-2F79-B1DE2244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B8D132C-8100-D3F5-8FDC-B1FDB0CC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2" name="Picture 1" descr="A graph with blue dots&#10;&#10;AI-generated content may be incorrect.">
            <a:extLst>
              <a:ext uri="{FF2B5EF4-FFF2-40B4-BE49-F238E27FC236}">
                <a16:creationId xmlns:a16="http://schemas.microsoft.com/office/drawing/2014/main" id="{C44D9A5D-A295-2EA6-B27B-E61F5A23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8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1B33-3339-CDD6-4EC6-94521D25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BBD8AD16-6709-E32C-380F-147FB690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970FB-4226-F1AA-973B-E94F35FD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1157287"/>
            <a:ext cx="58864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3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D0D8-4F73-7951-7666-69E0C858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D4F172E-29C4-68A8-542A-DE085B82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FA71A5-9803-1A72-83CC-56F10B68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2481262"/>
            <a:ext cx="53244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1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EC9-61E9-7A8B-BDFA-331C7747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0815EC2-37C4-3B7B-D381-66C5F479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BB407-61BF-2F27-36F4-BE0C5AAEB470}"/>
              </a:ext>
            </a:extLst>
          </p:cNvPr>
          <p:cNvSpPr txBox="1"/>
          <p:nvPr/>
        </p:nvSpPr>
        <p:spPr>
          <a:xfrm>
            <a:off x="950813" y="1375645"/>
            <a:ext cx="639945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1. First iteration: EDA + initial ML training ✅ </a:t>
            </a:r>
            <a:r>
              <a:rPr lang="en-US" b="1" i="1" dirty="0"/>
              <a:t>(completed)</a:t>
            </a:r>
            <a:endParaRPr lang="en-US" b="1" dirty="0"/>
          </a:p>
          <a:p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What was done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Performed </a:t>
            </a:r>
            <a:r>
              <a:rPr lang="en-US" b="1" dirty="0">
                <a:ea typeface="+mn-lt"/>
                <a:cs typeface="+mn-lt"/>
              </a:rPr>
              <a:t>exploratory data analysis (EDA)</a:t>
            </a:r>
            <a:r>
              <a:rPr lang="en-US" dirty="0">
                <a:ea typeface="+mn-lt"/>
                <a:cs typeface="+mn-lt"/>
              </a:rPr>
              <a:t> on the available samples.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Trained </a:t>
            </a:r>
            <a:r>
              <a:rPr lang="en-US" b="1" dirty="0">
                <a:ea typeface="+mn-lt"/>
                <a:cs typeface="+mn-lt"/>
              </a:rPr>
              <a:t>several baseline ML models</a:t>
            </a:r>
            <a:r>
              <a:rPr lang="en-US" dirty="0">
                <a:ea typeface="+mn-lt"/>
                <a:cs typeface="+mn-lt"/>
              </a:rPr>
              <a:t> (e.g. regression/classification models) to predict the target(s).</a:t>
            </a:r>
            <a:br>
              <a:rPr lang="en-US" dirty="0"/>
            </a:b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Main outcomes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Identified </a:t>
            </a:r>
            <a:r>
              <a:rPr lang="en-US" b="1" dirty="0">
                <a:ea typeface="+mn-lt"/>
                <a:cs typeface="+mn-lt"/>
              </a:rPr>
              <a:t>which models perform reasonably well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Identified </a:t>
            </a:r>
            <a:r>
              <a:rPr lang="en-US" b="1" dirty="0">
                <a:ea typeface="+mn-lt"/>
                <a:cs typeface="+mn-lt"/>
              </a:rPr>
              <a:t>key challenges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Limited sample size → risk of overfitting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Arial"/>
              </a:rPr>
              <a:t>Reproducibility of results</a:t>
            </a: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32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9932-065C-7F35-76FA-94FF3CE9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7E5E7B7-D056-63A5-9D45-3C439218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02FE4-7783-6922-C41B-ECF9592D7F1E}"/>
              </a:ext>
            </a:extLst>
          </p:cNvPr>
          <p:cNvSpPr txBox="1"/>
          <p:nvPr/>
        </p:nvSpPr>
        <p:spPr>
          <a:xfrm>
            <a:off x="950813" y="1375645"/>
            <a:ext cx="6399451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2. Experiment with digestion metrics &amp; integrate into pipeline ⏳ ~2 days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Goal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Design and test </a:t>
            </a:r>
            <a:r>
              <a:rPr lang="en-US" b="1" dirty="0">
                <a:ea typeface="+mn-lt"/>
                <a:cs typeface="+mn-lt"/>
              </a:rPr>
              <a:t>digestion-related parameters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Integrated End-To-End </a:t>
            </a:r>
            <a:r>
              <a:rPr lang="en-US" b="1" dirty="0" err="1">
                <a:ea typeface="+mn-lt"/>
                <a:cs typeface="+mn-lt"/>
              </a:rPr>
              <a:t>pipline</a:t>
            </a:r>
          </a:p>
          <a:p>
            <a:r>
              <a:rPr lang="en-US" b="1" dirty="0">
                <a:ea typeface="+mn-lt"/>
                <a:cs typeface="+mn-lt"/>
              </a:rPr>
              <a:t>Planned work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 these metrics into preprocessing &amp; feature engineering steps.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See how digestion parameters affects the predictions</a:t>
            </a: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566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2B0FA-E56C-ACFD-EE39-CA7E2BB7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C65C9221-ED1D-5734-01C7-CDB311E1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138EC-53CD-92F8-1686-4E4BA0CAE269}"/>
              </a:ext>
            </a:extLst>
          </p:cNvPr>
          <p:cNvSpPr txBox="1"/>
          <p:nvPr/>
        </p:nvSpPr>
        <p:spPr>
          <a:xfrm>
            <a:off x="950813" y="1375645"/>
            <a:ext cx="6399451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2. Experiment with digestion metrics &amp; integrate into pipeline ⏳ ~2 days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Goal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Design and test </a:t>
            </a:r>
            <a:r>
              <a:rPr lang="en-US" b="1" dirty="0">
                <a:ea typeface="+mn-lt"/>
                <a:cs typeface="+mn-lt"/>
              </a:rPr>
              <a:t>digestion-related parameters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Integrated End-To-End </a:t>
            </a:r>
            <a:r>
              <a:rPr lang="en-US" b="1" dirty="0" err="1">
                <a:ea typeface="+mn-lt"/>
                <a:cs typeface="+mn-lt"/>
              </a:rPr>
              <a:t>pipline</a:t>
            </a:r>
          </a:p>
          <a:p>
            <a:r>
              <a:rPr lang="en-US" b="1" dirty="0">
                <a:ea typeface="+mn-lt"/>
                <a:cs typeface="+mn-lt"/>
              </a:rPr>
              <a:t>Planned work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 these metrics into preprocessing &amp; feature engineering steps.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See how digestion parameters affects the predictions</a:t>
            </a: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70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0B39-28A6-3445-8C8E-49357ED3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F19470D0-DD70-A204-D188-3CA54B4F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DEBF3-CE80-6673-82AC-822891275003}"/>
              </a:ext>
            </a:extLst>
          </p:cNvPr>
          <p:cNvSpPr txBox="1"/>
          <p:nvPr/>
        </p:nvSpPr>
        <p:spPr>
          <a:xfrm>
            <a:off x="950813" y="1375645"/>
            <a:ext cx="639945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3. Comprehensive data analysis + full training on all samples ⏳ ~1 week (approx.)</a:t>
            </a:r>
          </a:p>
          <a:p>
            <a:endParaRPr lang="en-US" sz="1600" b="1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Goal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Move from “prototype” to </a:t>
            </a:r>
            <a:r>
              <a:rPr lang="en-US" sz="1600" b="1" dirty="0">
                <a:ea typeface="+mn-lt"/>
                <a:cs typeface="+mn-lt"/>
              </a:rPr>
              <a:t>complete analysis</a:t>
            </a:r>
            <a:r>
              <a:rPr lang="en-US" sz="1600" dirty="0">
                <a:ea typeface="+mn-lt"/>
                <a:cs typeface="+mn-lt"/>
              </a:rPr>
              <a:t> using </a:t>
            </a:r>
            <a:r>
              <a:rPr lang="en-US" sz="1600" b="1" dirty="0">
                <a:ea typeface="+mn-lt"/>
                <a:cs typeface="+mn-lt"/>
              </a:rPr>
              <a:t>all available samples</a:t>
            </a:r>
            <a:r>
              <a:rPr lang="en-US" sz="1600" dirty="0">
                <a:ea typeface="+mn-lt"/>
                <a:cs typeface="+mn-lt"/>
              </a:rPr>
              <a:t> and the improved feature set.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Planned work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Full, cleaned EDA on the </a:t>
            </a:r>
            <a:r>
              <a:rPr lang="en-US" sz="1600" b="1" dirty="0">
                <a:ea typeface="+mn-lt"/>
                <a:cs typeface="+mn-lt"/>
              </a:rPr>
              <a:t>entire dataset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Evaluate performance using solid metrics ( AUC, F1 ).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Perform </a:t>
            </a:r>
            <a:r>
              <a:rPr lang="en-US" sz="1600" b="1" dirty="0">
                <a:ea typeface="+mn-lt"/>
                <a:cs typeface="+mn-lt"/>
              </a:rPr>
              <a:t>error analysis</a:t>
            </a:r>
            <a:r>
              <a:rPr lang="en-US" sz="1600" dirty="0">
                <a:ea typeface="+mn-lt"/>
                <a:cs typeface="+mn-lt"/>
              </a:rPr>
              <a:t>: which types of peptides/samples are systematically mis-predicted?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Expected result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 </a:t>
            </a:r>
            <a:r>
              <a:rPr lang="en-US" sz="1600" b="1" dirty="0">
                <a:ea typeface="+mn-lt"/>
                <a:cs typeface="+mn-lt"/>
              </a:rPr>
              <a:t>robust, documented pipeline</a:t>
            </a:r>
            <a:r>
              <a:rPr lang="en-US" sz="1600" dirty="0">
                <a:ea typeface="+mn-lt"/>
                <a:cs typeface="+mn-lt"/>
              </a:rPr>
              <a:t> from raw features → digestion metrics → model → performance.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Clear understanding of </a:t>
            </a:r>
            <a:r>
              <a:rPr lang="en-US" sz="1600" b="1" dirty="0">
                <a:ea typeface="+mn-lt"/>
                <a:cs typeface="+mn-lt"/>
              </a:rPr>
              <a:t>limitations and strengths</a:t>
            </a:r>
            <a:r>
              <a:rPr lang="en-US" sz="1600" dirty="0">
                <a:ea typeface="+mn-lt"/>
                <a:cs typeface="+mn-lt"/>
              </a:rPr>
              <a:t> of the approach.</a:t>
            </a:r>
            <a:endParaRPr lang="en-US" dirty="0"/>
          </a:p>
          <a:p>
            <a:endParaRPr lang="en-US" sz="1600" b="1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AD4A2-B238-B6AE-BA6A-BBCF3A32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6593864-2A08-10A7-751B-B675D806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85591-BE9F-744C-D1FA-305C512A6CC8}"/>
              </a:ext>
            </a:extLst>
          </p:cNvPr>
          <p:cNvSpPr txBox="1"/>
          <p:nvPr/>
        </p:nvSpPr>
        <p:spPr>
          <a:xfrm>
            <a:off x="950813" y="1375645"/>
            <a:ext cx="639945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4. Final report, findings, and literature-based suggestions ⏳ ~1 week 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Goal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Summarise</a:t>
            </a:r>
            <a:r>
              <a:rPr lang="en-US" dirty="0">
                <a:ea typeface="+mn-lt"/>
                <a:cs typeface="+mn-lt"/>
              </a:rPr>
              <a:t> all practical work and link it to a report.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 </a:t>
            </a:r>
            <a:r>
              <a:rPr lang="en-US" b="1" dirty="0">
                <a:ea typeface="+mn-lt"/>
                <a:cs typeface="+mn-lt"/>
              </a:rPr>
              <a:t>recommendations</a:t>
            </a:r>
            <a:r>
              <a:rPr lang="en-US" dirty="0">
                <a:ea typeface="+mn-lt"/>
                <a:cs typeface="+mn-lt"/>
              </a:rPr>
              <a:t> for improving peptide detection and experimental design.</a:t>
            </a:r>
          </a:p>
          <a:p>
            <a:r>
              <a:rPr lang="en-US" b="1" dirty="0">
                <a:ea typeface="+mn-lt"/>
                <a:cs typeface="+mn-lt"/>
              </a:rPr>
              <a:t>Planned work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Write </a:t>
            </a:r>
            <a:r>
              <a:rPr lang="en-US" b="1" dirty="0">
                <a:ea typeface="+mn-lt"/>
                <a:cs typeface="+mn-lt"/>
              </a:rPr>
              <a:t>final report </a:t>
            </a:r>
            <a:r>
              <a:rPr lang="en-US" dirty="0">
                <a:ea typeface="+mn-lt"/>
                <a:cs typeface="+mn-lt"/>
              </a:rPr>
              <a:t> including:</a:t>
            </a:r>
            <a:endParaRPr lang="en-US" dirty="0"/>
          </a:p>
          <a:p>
            <a:pPr marL="457200"/>
            <a:r>
              <a:rPr lang="en-US" dirty="0">
                <a:ea typeface="+mn-lt"/>
                <a:cs typeface="+mn-lt"/>
              </a:rPr>
              <a:t>Introduction &amp; background,  Methods, Results, and Discussion.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b="1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38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EF46-A36F-1711-E252-1C343AD5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C573A6AF-1B1A-1CD7-16A1-0DE173CA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endParaRPr lang="de-DE" sz="2200" spc="-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064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986</Words>
  <Application>Microsoft Office PowerPoint</Application>
  <PresentationFormat>On-screen Show (4:3)</PresentationFormat>
  <Paragraphs>311</Paragraphs>
  <Slides>25</Slides>
  <Notes>0</Notes>
  <HiddenSlides>0</HiddenSlide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Functional Genomics Practical</vt:lpstr>
      <vt:lpstr>Proteomics Work Flow</vt:lpstr>
      <vt:lpstr>From theoretical peptides to real sample digest</vt:lpstr>
      <vt:lpstr>From theoretical peptides to real sample digest</vt:lpstr>
      <vt:lpstr>Why many peptides don’t show up: key limiting factors</vt:lpstr>
      <vt:lpstr>Consequences &amp; mitigation strategies</vt:lpstr>
      <vt:lpstr>Sample Statistics</vt:lpstr>
      <vt:lpstr>Sample Statistics</vt:lpstr>
      <vt:lpstr>Sample Statistics</vt:lpstr>
      <vt:lpstr>Sample Statistics</vt:lpstr>
      <vt:lpstr>Training  ML Models</vt:lpstr>
      <vt:lpstr>Training  ML Models</vt:lpstr>
      <vt:lpstr>ML Interpretability </vt:lpstr>
      <vt:lpstr>ML Interpretability </vt:lpstr>
      <vt:lpstr>ML Interpretability </vt:lpstr>
      <vt:lpstr>ML Interpretability </vt:lpstr>
      <vt:lpstr>Deep Learning Models : Experiment with ESM 2</vt:lpstr>
      <vt:lpstr>Deep Learning Models : Experiment with ESM 2</vt:lpstr>
      <vt:lpstr>Deep Learning Models : Experiment with ESM 2</vt:lpstr>
      <vt:lpstr>Practical Outline</vt:lpstr>
      <vt:lpstr>Practical Outline</vt:lpstr>
      <vt:lpstr>Practical Outline</vt:lpstr>
      <vt:lpstr>Practical Outline</vt:lpstr>
      <vt:lpstr>Practical Outline</vt:lpstr>
      <vt:lpstr>PowerPoint Presentation</vt:lpstr>
    </vt:vector>
  </TitlesOfParts>
  <Company>TU Braunschweig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295</cp:revision>
  <dcterms:modified xsi:type="dcterms:W3CDTF">2025-11-18T11:24:59Z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2025-11-18T10:55:06Z</dcterms:created>
  <dc:creator/>
  <dc:description/>
  <dc:language>en-US</dc:language>
  <cp:lastModifiedBy>Ulrike Rolf</cp:lastModifiedBy>
  <cp:lastPrinted>2016-07-27T11:29:09Z</cp:lastPrinted>
  <dcterms:modified xsi:type="dcterms:W3CDTF">2018-01-26T15:53:15Z</dcterms:modified>
  <cp:revision>16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22</vt:i4>
  </property>
</Properties>
</file>